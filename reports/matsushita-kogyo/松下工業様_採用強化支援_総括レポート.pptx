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C"/>
                </a:solidFill>
                <a:latin typeface="Yu Gothic"/>
              </a:defRPr>
            </a:pPr>
            <a:r>
              <a:rPr sz="1300" b="0" i="0" u="none" strike="noStrike">
                <a:solidFill>
                  <a:srgbClr val="1B3A5C"/>
                </a:solidFill>
                <a:latin typeface="Yu Gothic"/>
              </a:rPr>
              <a:t>Indeed 月間表示回数の推移(有料化:3月〜)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Indeed表示回数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280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12月</c:v>
                  </c:pt>
                  <c:pt idx="1">
                    <c:v>1月</c:v>
                  </c:pt>
                  <c:pt idx="2">
                    <c:v>2月</c:v>
                  </c:pt>
                  <c:pt idx="3">
                    <c:v>3月</c:v>
                  </c:pt>
                  <c:pt idx="4">
                    <c:v>4月</c:v>
                  </c:pt>
                  <c:pt idx="5">
                    <c:v>5月</c:v>
                  </c:pt>
                  <c:pt idx="6">
                    <c:v>6月</c:v>
                  </c:pt>
                  <c:pt idx="7">
                    <c:v>7月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</c:v>
                </c:pt>
                <c:pt idx="1">
                  <c:v>177</c:v>
                </c:pt>
                <c:pt idx="2">
                  <c:v>220</c:v>
                </c:pt>
                <c:pt idx="3">
                  <c:v>1048</c:v>
                </c:pt>
                <c:pt idx="4">
                  <c:v>2378</c:v>
                </c:pt>
                <c:pt idx="5">
                  <c:v>2052</c:v>
                </c:pt>
                <c:pt idx="6">
                  <c:v>3585</c:v>
                </c:pt>
                <c:pt idx="7">
                  <c:v>2632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7280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C"/>
                </a:solidFill>
                <a:latin typeface="Yu Gothic"/>
              </a:defRPr>
            </a:pPr>
            <a:r>
              <a:rPr sz="1300" b="0" i="0" u="none" strike="noStrike">
                <a:solidFill>
                  <a:srgbClr val="1B3A5C"/>
                </a:solidFill>
                <a:latin typeface="Yu Gothic"/>
              </a:rPr>
              <a:t>媒体別 応募者数と年代内訳(実人数12名)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20〜30代</c:v>
                </c:pt>
              </c:strCache>
            </c:strRef>
          </c:tx>
          <c:spPr>
            <a:solidFill>
              <a:srgbClr val="E876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Yu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ヤギオファー</c:v>
                  </c:pt>
                  <c:pt idx="1">
                    <c:v>Indeed</c:v>
                  </c:pt>
                  <c:pt idx="2">
                    <c:v>求人BOX</c:v>
                  </c:pt>
                  <c:pt idx="3">
                    <c:v>AirWork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40代以上</c:v>
                </c:pt>
              </c:strCache>
            </c:strRef>
          </c:tx>
          <c:spPr>
            <a:solidFill>
              <a:srgbClr val="5A7A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Yu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ヤギオファー</c:v>
                  </c:pt>
                  <c:pt idx="1">
                    <c:v>Indeed</c:v>
                  </c:pt>
                  <c:pt idx="2">
                    <c:v>求人BOX</c:v>
                  </c:pt>
                  <c:pt idx="3">
                    <c:v>AirWork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Yu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74151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93F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023360"/>
            <a:ext cx="4206240" cy="42062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5029200"/>
            <a:ext cx="2194560" cy="2194560"/>
          </a:xfrm>
          <a:prstGeom prst="ellipse">
            <a:avLst/>
          </a:prstGeom>
          <a:solidFill>
            <a:srgbClr val="1F446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採用強化支援 総括レポート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41248" y="3154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株式会社松下工業様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8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支援期間:2025年12月 〜 2026年8月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5806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E8762C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5806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2026年8月7日  Talenco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目的である「20・30代の若手採用」に向け、応募の3分の2がターゲット年代という状態を実現しました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292840" y="320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2F6F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64208"/>
            <a:ext cx="24231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8/12名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43459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20〜30代の応募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70891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全応募者12名中8名(67%)がターゲット年代。毎月継続的に発生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2F6F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664208"/>
            <a:ext cx="24231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13件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66160" y="243459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応募獲得(3〜7月)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6160" y="270891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支援前の応募ゼロ状態から、毎月応募が発生する状態へ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2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664208"/>
            <a:ext cx="24231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7媒体+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46520" y="243459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採用チャネル構築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270891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Indeed・求人BOX・ヤギオファー・ハローワーク・Meta・Google・SNS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89720" y="15544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2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1664208"/>
            <a:ext cx="21945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33倍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326880" y="243459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月間露出の拡大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26880" y="2708910"/>
            <a:ext cx="21945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Indeed表示回数 108回(12月)→3,585回(6月)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3520440"/>
            <a:ext cx="384048" cy="384048"/>
          </a:xfrm>
          <a:prstGeom prst="ellipse">
            <a:avLst/>
          </a:prstGeom>
          <a:solidFill>
            <a:srgbClr val="E8762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515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344728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採用基盤の整備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社員インタビューによる訴求素材の発掘、求人原稿・面接フロー・媒体アカウントをゼロから構築し、求人を公開。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4279392"/>
            <a:ext cx="384048" cy="384048"/>
          </a:xfrm>
          <a:prstGeom prst="ellipse">
            <a:avLst/>
          </a:prstGeom>
          <a:solidFill>
            <a:srgbClr val="E8762C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4206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20・30代に届く独自ポジションの確立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検証を重ね、ペルソナを「オタク気質・マニア層」へ転換。「AIに代替されない技術」との2軸が奏功し、20〜30代が応募の中心に。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" y="5038344"/>
            <a:ext cx="384048" cy="384048"/>
          </a:xfrm>
          <a:prstGeom prst="ellipse">
            <a:avLst/>
          </a:prstGeom>
          <a:solidFill>
            <a:srgbClr val="E8762C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50337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3000" y="49651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応募導線の多様化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自社説明会→オンライン説明会、LP改善、LINE公式、SNSと、若手の応募ハードルを下げる導線を段階的に整備。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94360" y="5797296"/>
            <a:ext cx="384048" cy="384048"/>
          </a:xfrm>
          <a:prstGeom prst="ellipse">
            <a:avLst/>
          </a:prstGeom>
          <a:solidFill>
            <a:srgbClr val="5A7A99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57927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43000" y="572414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残る課題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応募から選考への移行が壁(書類通過・面接0名)。20代の連絡途絶への対策と選考移行率の改善策を本レポートでご提案します。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支援の概要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92840" y="320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863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126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支援期間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2025年12月 〜 2026年8月(9ヶ月)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支援内容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採用強化支援(募集職種:配管工・現場作業スタッフ/未経験・経験者)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ターゲット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20・30代の未経験/第二新卒(オタク気質層)を主軸に、経験者を併用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体制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Talenco 佐々木(担当コンサルタント)・山本/株式会社サーキュレーション経由のご契約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ミーティング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定例ミーティングを週次〜隔週で実施(オンライン中心・議事録を毎回共有)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月間広告予算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計¥60,000(Indeed ¥30,000/求人BOX ¥10,000/ヤギオファー ¥10,000/Meta ¥10,000)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目標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20・30代の配管工採用(週次進捗管理:目標1名・2026年2月〜52週)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508760"/>
            <a:ext cx="2971800" cy="4206240"/>
          </a:xfrm>
          <a:prstGeom prst="roundRect">
            <a:avLst>
              <a:gd name="adj" fmla="val 2462"/>
            </a:avLst>
          </a:prstGeom>
          <a:solidFill>
            <a:srgbClr val="1B3A5C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社員インタビューで発掘した訴求素材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915400" y="233172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基本17時退社・残業しづらい空気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資格取得費用を会社が全額負担・受験日は出勤扱い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怒鳴る親方文化なし・アットホームな現場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創業70年以上・地域インフラを支える安定性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配管はパズルのような技術の面白さ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支援の歩み ─ 6つのフェーズ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市場の反応を検証しながら、打ち手を段階的に進化させました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292840" y="320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7276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591056"/>
            <a:ext cx="9464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立ち上げ・素材収集 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社員インタビュー2件で魅力を言語化。求人原稿・面接フロー・媒体を整備し年内に求人公開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216152" y="2286000"/>
            <a:ext cx="32004" cy="146304"/>
          </a:xfrm>
          <a:prstGeom prst="rect">
            <a:avLst/>
          </a:prstGeom>
          <a:solidFill>
            <a:srgbClr val="5A7A9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32304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3230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2026/1-2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450592"/>
            <a:ext cx="9464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無料掲載検証・説明会企画 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無料掲載では露出不足と判明。応募ハードルを下げる自社説明会を企画、LP改善方針を策定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16152" y="3145536"/>
            <a:ext cx="32004" cy="146304"/>
          </a:xfrm>
          <a:prstGeom prst="rect">
            <a:avLst/>
          </a:prstGeom>
          <a:solidFill>
            <a:srgbClr val="5A7A9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29184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2026/3-4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3310128"/>
            <a:ext cx="9464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有料化・説明会運用 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Indeed有料化+ヤギオファー+ハローワーク強化。自社説明会(3/14・4/11)・ハロワ説明会(4/28)を実施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16152" y="4005072"/>
            <a:ext cx="32004" cy="146304"/>
          </a:xfrm>
          <a:prstGeom prst="rect">
            <a:avLst/>
          </a:prstGeom>
          <a:solidFill>
            <a:srgbClr val="5A7A9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1376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E8762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5137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2026/4-5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4169664"/>
            <a:ext cx="9464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ターゲット・訴求転換 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ペルソナを「オタク気質」層へ転換。「AIに代替されない技術」との2軸に絞り、求人を10件超へ細分化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16152" y="4864608"/>
            <a:ext cx="32004" cy="146304"/>
          </a:xfrm>
          <a:prstGeom prst="rect">
            <a:avLst/>
          </a:prstGeom>
          <a:solidFill>
            <a:srgbClr val="5A7A99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010912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01091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94560" y="5029200"/>
            <a:ext cx="9464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Web広告・LP最適化 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Meta広告(Instagram集中)・Googleリタゲ導入。LP超短縮・電話番号入力廃止。説明会をオンライン化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216152" y="5724144"/>
            <a:ext cx="32004" cy="146304"/>
          </a:xfrm>
          <a:prstGeom prst="rect">
            <a:avLst/>
          </a:prstGeom>
          <a:solidFill>
            <a:srgbClr val="5A7A99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587044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87044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94560" y="5888736"/>
            <a:ext cx="9464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SNS展開・次の一手 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キャッチコピーを尖鋭化しInstagram運用を開始。転職フェア・職人スカウト等の新チャネルを調査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施策① 求人媒体の運用改善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無料掲載 → 有料化 → 職種細分化・予算グループ運用で露出を最大化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292840" y="320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852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74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6月にIndeed全求人が非掲載となるトラブルが発生しましたが、原因(アルゴリズム変更)を特定し1週間で復旧。媒体分散でリスクを回避しました。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76656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媒体別 累計実績(2026年3月〜8月上旬・有料課金分)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057400"/>
          <a:ext cx="48463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960120"/>
                <a:gridCol w="777240"/>
                <a:gridCol w="640080"/>
                <a:gridCol w="50292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媒体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表示回数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クリック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CTR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応募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費用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Indeed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12,064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792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6.6%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¥153,496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求人BOX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16,136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4.7%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¥50,945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ヤギオファー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スカウト型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月¥10,000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engage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PV 1,031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AirWork 他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766560" y="461772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F6FA"/>
          </a:solidFill>
          <a:ln/>
        </p:spPr>
      </p:sp>
      <p:sp>
        <p:nvSpPr>
          <p:cNvPr id="10" name="Text 6"/>
          <p:cNvSpPr/>
          <p:nvPr/>
        </p:nvSpPr>
        <p:spPr>
          <a:xfrm>
            <a:off x="6949440" y="47548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ハローワークも総合強化: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写真10枚掲載・PRシート提出・給与表記を月28万円〜に統一・年齢×受付日基準のリクエスト(スカウト)送信を継続実施。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施策② ターゲット・訴求の転換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検証データに基づき、富山の採用競争で独自のポジションを確立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292840" y="320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一般的な若手向け求人(ガテン系・「アットホーム」訴求)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若手に刺さらず、50代経験者層にのみ反応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16002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転換後(2026年4月〜)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12280" y="20116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ペルソナ=「オタク気質・マニア」層 × 「AIに代替されない技術」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結果: 応募者の67%(12名中8名)が20〜30代に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15000" y="2084832"/>
            <a:ext cx="731520" cy="411480"/>
          </a:xfrm>
          <a:prstGeom prst="rightArrow">
            <a:avLst/>
          </a:prstGeom>
          <a:solidFill>
            <a:srgbClr val="E8762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訴求パターン検証の結果(Indeed CTR・2026年4月末)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オタク気質訴求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377440" y="3794760"/>
            <a:ext cx="4055633" cy="274320"/>
          </a:xfrm>
          <a:prstGeom prst="roundRect">
            <a:avLst>
              <a:gd name="adj" fmla="val 13333"/>
            </a:avLst>
          </a:prstGeom>
          <a:solidFill>
            <a:srgbClr val="E8762C"/>
          </a:solidFill>
          <a:ln/>
        </p:spPr>
      </p:sp>
      <p:sp>
        <p:nvSpPr>
          <p:cNvPr id="15" name="Text 13"/>
          <p:cNvSpPr/>
          <p:nvPr/>
        </p:nvSpPr>
        <p:spPr>
          <a:xfrm>
            <a:off x="6478793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CTR 14.5%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最も相性が良い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224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経験者向け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77440" y="4270248"/>
            <a:ext cx="4670970" cy="274320"/>
          </a:xfrm>
          <a:prstGeom prst="roundRect">
            <a:avLst>
              <a:gd name="adj" fmla="val 13333"/>
            </a:avLst>
          </a:prstGeom>
          <a:solidFill>
            <a:srgbClr val="5A7A99"/>
          </a:solidFill>
          <a:ln/>
        </p:spPr>
      </p:sp>
      <p:sp>
        <p:nvSpPr>
          <p:cNvPr id="19" name="Text 17"/>
          <p:cNvSpPr/>
          <p:nvPr/>
        </p:nvSpPr>
        <p:spPr>
          <a:xfrm>
            <a:off x="7094130" y="4224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7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CTR 16.7%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0" y="4224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表示は伸びるが応募に繋がらず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7000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AI訴求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377440" y="4745736"/>
            <a:ext cx="2181651" cy="27432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4604811" y="4700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CTR 7.8%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0" y="47000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CPC¥12〜20と安価で効率的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175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健康訴求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377440" y="5221224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5A7A99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51755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7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CTR 8.5%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0" y="51755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単独では弱く要素として統合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80644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2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88873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キャッチコピーの進化: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「その仕事、10年後もありますか?」→「マニアック上等!」「AIごときにはできません!」へ尖鋭化(7月)。求人も職種細分化で10件超に拡大し、CTRの良い求人へ予算を集中。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施策③ 説明会による応募ハードルの引き下げ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「いきなり応募」ではなく「まず話を聞く」導線を設計・改善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292840" y="320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2F6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15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019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対面説明会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7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2/28企画 → 3/14・4/11開催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2852928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私服OK・履歴書不要・現場見学・当日面接可。会社説明資料・アンケート・運営フローを整備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2880360"/>
            <a:ext cx="457200" cy="365760"/>
          </a:xfrm>
          <a:prstGeom prst="rightArrow">
            <a:avLst/>
          </a:prstGeom>
          <a:solidFill>
            <a:srgbClr val="5A7A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6916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2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920240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915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19019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ハローワーク説明会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82312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7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4/28 参加(2名来場)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2312" y="2852928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PRシート・写真10枚・お任せマッチング等、ハローワークの機能をフル活用。次回は8/28以降で予約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92440" y="2880360"/>
            <a:ext cx="457200" cy="365760"/>
          </a:xfrm>
          <a:prstGeom prst="rightArrow">
            <a:avLst/>
          </a:prstGeom>
          <a:solidFill>
            <a:srgbClr val="5A7A99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16916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1B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732520" y="1920240"/>
            <a:ext cx="384048" cy="384048"/>
          </a:xfrm>
          <a:prstGeom prst="ellipse">
            <a:avLst/>
          </a:prstGeom>
          <a:solidFill>
            <a:srgbClr val="E8762C"/>
          </a:solidFill>
          <a:ln/>
        </p:spPr>
      </p:sp>
      <p:sp>
        <p:nvSpPr>
          <p:cNvPr id="21" name="Text 19"/>
          <p:cNvSpPr/>
          <p:nvPr/>
        </p:nvSpPr>
        <p:spPr>
          <a:xfrm>
            <a:off x="8732520" y="1915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35440" y="19019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オンライン説明会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59952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7月〜 毎週木曜夜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59952" y="2852928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顔出し不要・45分・Google Meet・予約制。在職中の若手が参加しやすい形式へ転換(7/16・23・30実施)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F2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983480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背景と学び: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面開催は集客に苦戦(申込0〜1名)。土曜午前→午後→オンラインと開催形式を検証し、「木曜夜・顔出しなし・匿名参加可」というターゲット(在職中・人見知り傾向の若手)に合わせた現在の形に到達。説明会は応募前の不安を解消する中核導線として、LP・LINE公式・求人原稿すべてに組み込み済み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施策④ Web広告とLPの継続改善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データ分析(ヒートマップ・行動解析)に基づく高速な改善サイクル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292840" y="320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Web広告の運用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577840" cy="1170432"/>
          </a:xfrm>
          <a:prstGeom prst="roundRect">
            <a:avLst>
              <a:gd name="adj" fmla="val 6250"/>
            </a:avLst>
          </a:prstGeom>
          <a:solidFill>
            <a:srgbClr val="F2F6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214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Meta広告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41401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検証の結果Instagramに集中(CTR 2.26%・クリック単価¥30)。AI画像・漫画形式などクリエイティブをABテスト。フォーム直接誘導も検証し、効率の良いLP誘導へ回帰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5577840" cy="1170432"/>
          </a:xfrm>
          <a:prstGeom prst="roundRect">
            <a:avLst>
              <a:gd name="adj" fmla="val 6250"/>
            </a:avLst>
          </a:prstGeom>
          <a:solidFill>
            <a:srgbClr val="F2F6F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1985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Google広告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7124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LPに1分以上滞在した未応募層へのリターゲティング配信(6月〜)。エリア・年齢・スマホ限定で無駄打ちを排除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608576"/>
            <a:ext cx="5577840" cy="1170432"/>
          </a:xfrm>
          <a:prstGeom prst="roundRect">
            <a:avLst>
              <a:gd name="adj" fmla="val 6250"/>
            </a:avLst>
          </a:prstGeom>
          <a:solidFill>
            <a:srgbClr val="F2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183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X(旧Twitter)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501091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社長アカウントの発信と連動。求人投稿が250万ビューを2回記録、「配管 富山 求人」で検索1位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LP(採用ランディングページ)の改善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20116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ヒートマップ・録画分析で「説明会日程・給与しか見られていない」実態を特定 → 重要情報のみの超短縮版へ全面刷新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応募フォームの電話番号入力を廃止しメールのみに(心理的ハードルを低減)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重いアニメーションを削減し読み込み速度を改善・スマホ特化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LINE公式アカウント導線・中間CTA・予約フォーム簡素化などを継続的に実施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45720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46817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24→38%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629400" y="53263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LP平均スクロール深度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5600700"/>
            <a:ext cx="22402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6月→7月。「読まれるLP」へ改善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0" y="45720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46817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1,547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281160" y="53263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LP累計PV(応募6件)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81160" y="5600700"/>
            <a:ext cx="22402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12月14PV→6月380PVへ拡大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施策⑤ SNS・動画・新チャネルの開拓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リスクとコストを見極めながら、持続可能な発信体制へ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292840" y="320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2F6F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動画戦略の検証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ライブ配信 → 録画切り抜き → 静止画+文字へと検証。権利・安全管理上のリスクと制作負荷を踏まえ、社長が自走できる「静止画+文字のInstagram定期投稿」に着地(7月)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64592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Instagram運用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会社紹介・Q&amp;A系の定番投稿を量産。お盆前完了予定のHPリニューアルと連携し「求人媒体 → Instagram → HP」の導線を構築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2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959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LINE公式アカウント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3616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若手に多いLINE経由応募に対応(6月開設)。求人・LP・広告に友だち追加導線を設置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379476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2F6F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959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新チャネル調査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3616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マイナビ転職フェア富山(来場151名・20〜30代中心/出展20〜35万円)、建設職人特化「職人スカウト」(登録3,300名)を調査。10月・1月開催に向け交渉準備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6〜7月は夏季賞与支給に伴う転職鈍化期。8月からの市場再活性化(ピーク9〜10月)を見据えた仕込みを完了しています。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成果サマリー ─ 応募実績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応募ゼロの状態から、20〜30代を中心に毎月応募が発生する状態へ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292840" y="320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2F6F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19379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20〜30代の最大の獲得源はスカウト型(ヤギオファー: 4名)。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100通で2〜3名の反響と、業界平均(500通で1〜2名)を大きく上回る文面の刺さりを実証しました。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年齢帯別の応募実績 ─ ターゲット層(20・30代)に到達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E8762C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214884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20代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5名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(21・23・24・29・29歳)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2825496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E8762C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82549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30代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3名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(31・35・36歳)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3502152"/>
            <a:ext cx="4434840" cy="566928"/>
          </a:xfrm>
          <a:prstGeom prst="roundRect">
            <a:avLst>
              <a:gd name="adj" fmla="val 9677"/>
            </a:avLst>
          </a:prstGeom>
          <a:solidFill>
            <a:srgbClr val="5A7A9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350215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40代以上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4名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(48〜77歳・ターゲット外)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09360" y="414223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※応募13件のうち1名は2媒体からの重複応募のため、実人数12名で集計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309360" y="447141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20〜30代応募の月別推移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4782312"/>
            <a:ext cx="960120" cy="475488"/>
          </a:xfrm>
          <a:prstGeom prst="roundRect">
            <a:avLst>
              <a:gd name="adj" fmla="val 9615"/>
            </a:avLst>
          </a:prstGeom>
          <a:solidFill>
            <a:srgbClr val="E8762C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478231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3月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2名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406640" y="4782312"/>
            <a:ext cx="960120" cy="475488"/>
          </a:xfrm>
          <a:prstGeom prst="roundRect">
            <a:avLst>
              <a:gd name="adj" fmla="val 9615"/>
            </a:avLst>
          </a:prstGeom>
          <a:solidFill>
            <a:srgbClr val="E5E7EB"/>
          </a:solidFill>
          <a:ln/>
        </p:spPr>
      </p:sp>
      <p:sp>
        <p:nvSpPr>
          <p:cNvPr id="20" name="Text 17"/>
          <p:cNvSpPr/>
          <p:nvPr/>
        </p:nvSpPr>
        <p:spPr>
          <a:xfrm>
            <a:off x="7406640" y="478231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4月  </a:t>
            </a:r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0名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503920" y="4782312"/>
            <a:ext cx="960120" cy="475488"/>
          </a:xfrm>
          <a:prstGeom prst="roundRect">
            <a:avLst>
              <a:gd name="adj" fmla="val 9615"/>
            </a:avLst>
          </a:prstGeom>
          <a:solidFill>
            <a:srgbClr val="E8762C"/>
          </a:solidFill>
          <a:ln/>
        </p:spPr>
      </p:sp>
      <p:sp>
        <p:nvSpPr>
          <p:cNvPr id="22" name="Text 19"/>
          <p:cNvSpPr/>
          <p:nvPr/>
        </p:nvSpPr>
        <p:spPr>
          <a:xfrm>
            <a:off x="8503920" y="478231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5月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2名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601200" y="4782312"/>
            <a:ext cx="960120" cy="475488"/>
          </a:xfrm>
          <a:prstGeom prst="roundRect">
            <a:avLst>
              <a:gd name="adj" fmla="val 9615"/>
            </a:avLst>
          </a:prstGeom>
          <a:solidFill>
            <a:srgbClr val="E8762C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0" y="478231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6月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2名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0698480" y="4782312"/>
            <a:ext cx="960120" cy="475488"/>
          </a:xfrm>
          <a:prstGeom prst="roundRect">
            <a:avLst>
              <a:gd name="adj" fmla="val 9615"/>
            </a:avLst>
          </a:prstGeom>
          <a:solidFill>
            <a:srgbClr val="E8762C"/>
          </a:solidFill>
          <a:ln/>
        </p:spPr>
      </p:sp>
      <p:sp>
        <p:nvSpPr>
          <p:cNvPr id="26" name="Text 23"/>
          <p:cNvSpPr/>
          <p:nvPr/>
        </p:nvSpPr>
        <p:spPr>
          <a:xfrm>
            <a:off x="10698480" y="478231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7月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2名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309360" y="54406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DF0E6"/>
          </a:solidFill>
          <a:ln/>
        </p:spPr>
      </p:sp>
      <p:sp>
        <p:nvSpPr>
          <p:cNvPr id="28" name="Text 25"/>
          <p:cNvSpPr/>
          <p:nvPr/>
        </p:nvSpPr>
        <p:spPr>
          <a:xfrm>
            <a:off x="6537960" y="555955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応募者の67%(12名中8名)が20〜30代。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毎月2名ペースでターゲット年代の応募が継続しており、「若手に届く求人」への転換が数字で確認できます。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選考移行率の現在地と課題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応募は生まれましたが、選考への移行が壁 ─ ここが次の主戦場です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292840" y="320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選考ファネル(2026年3〜7月・実人数ベース)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12名(うち20〜30代8名)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E8762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1635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説明会・選考ヒアリングへ移行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3名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00600" y="281635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移行率 25%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529584"/>
            <a:ext cx="2834640" cy="603504"/>
          </a:xfrm>
          <a:prstGeom prst="roundRect">
            <a:avLst>
              <a:gd name="adj" fmla="val 9091"/>
            </a:avLst>
          </a:prstGeom>
          <a:solidFill>
            <a:srgbClr val="5A7A9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2958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書類選考通過(有効応募)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20440" y="352958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7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移行率 0%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242816"/>
            <a:ext cx="2194560" cy="603504"/>
          </a:xfrm>
          <a:prstGeom prst="roundRect">
            <a:avLst>
              <a:gd name="adj" fmla="val 9091"/>
            </a:avLst>
          </a:prstGeom>
          <a:solidFill>
            <a:srgbClr val="5A7A9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4281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1次面接・入社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97433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対応中: 説明会誘導中1名(36歳)・選考/説明会ヒアリング中2名(23歳・53歳) ※8月継続対応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65099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20〜30代8名のうち選考対応が継続できているのは1名(23歳)。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応募獲得の次は「つながり続ける仕組み」が成果の鍵です。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移行を阻んだ3つの要因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37960" y="2029968"/>
            <a:ext cx="384048" cy="384048"/>
          </a:xfrm>
          <a:prstGeom prst="ellipse">
            <a:avLst/>
          </a:prstGeom>
          <a:solidFill>
            <a:srgbClr val="5A7A99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59168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20代前半の連絡途絶 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メールを見ない・返信が途切れる傾向(21歳は書類依頼後に連絡なし)。若手ほど発生しやすい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2871216"/>
            <a:ext cx="384048" cy="384048"/>
          </a:xfrm>
          <a:prstGeom prst="ellipse">
            <a:avLst/>
          </a:prstGeom>
          <a:solidFill>
            <a:srgbClr val="5A7A99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8666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59168" y="28072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ターゲット外応募の混在 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77歳×2・53歳・48歳など、応募12名のうち4名(33%)がターゲット外。お断り対応が負担に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3712464"/>
            <a:ext cx="384048" cy="384048"/>
          </a:xfrm>
          <a:prstGeom prst="ellipse">
            <a:avLst/>
          </a:prstGeom>
          <a:solidFill>
            <a:srgbClr val="5A7A99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7078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59168" y="364845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スカウト承認後の音信不通 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説明会誘導後にSMS既読が付かないケース(36歳)。接点の維持が課題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46177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4754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実施済みの対応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66560" y="51206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連絡順序を「固定電話→SMS」に変更(若手はメールを見ないため)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応募者をSMS・電話でオンライン説明会(顔出しなし)へ誘導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LINE公式アカウントで若手が返信しやすい接点を追加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活動履歴 ─ 定例ミーティング・説明会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毎回議事録を共有し、決定事項を翌週までに実行するサイクルを継続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292840" y="320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5321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4480560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11/20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初回面談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12/5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キックオフ(富山ご訪問)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12/10・12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社員インタビュー(2件)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12/19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定例:採用マニュアル・面接改善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1/7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定例:自社説明会の企画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1/22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定例:数値レビュー・集客設計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2/19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定例:HP制作会社同席・LP戦略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2/28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自社説明会(第1回・企画)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3/2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定例:Indeed有料化の決定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3/13・14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直前MTG・自社説明会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4/1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定例:キャッチコピー2軸戦略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4/9・11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直前MTG・自社説明会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5321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4480560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4/21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定例:ペルソナ「オタク気質」へ転換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4/28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ハローワーク説明会(2名参加)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5/7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定例:検証結果・チラシ/Meta広告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5/22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6/4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定例:Meta広告検証(サーキュレーション同席)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6/18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定例:LP改善・リタゲ導入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6/20・27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自社説明会(2部制)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6/24・30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定例:オンライン説明会設計・Indeed復旧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7/9・15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定例:動画戦略・候補者対応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7/16・23・30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オンライン説明会(毎週木曜)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7/23・30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定例:コピー刷新・SNS転換・新チャネル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8/7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定例(本レポートのご報告)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172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2025年11月〜2026年8月:定例・インタビュー・説明会など合計30回以上の接点。すべての回で議事録(Gemini自動メモ)を共有済み。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今後のご提言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8月以降の転職市場再活性化(ピーク:9〜10月)を最大限に活かすために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292840" y="320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1609344"/>
            <a:ext cx="384048" cy="384048"/>
          </a:xfrm>
          <a:prstGeom prst="ellipse">
            <a:avLst/>
          </a:prstGeom>
          <a:solidFill>
            <a:srgbClr val="E8762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47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Instagram×HP導線の確立
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リニューアルHPとInstagramを紐付け、「求人媒体→Instagram→HP→説明会」の導線を完成させる。静止画+文字の定期投稿を継続し、会社の「人となり」で応募の質を高める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542032"/>
            <a:ext cx="384048" cy="384048"/>
          </a:xfrm>
          <a:prstGeom prst="ellipse">
            <a:avLst/>
          </a:prstGeom>
          <a:solidFill>
            <a:srgbClr val="E8762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374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転職フェア・職人スカウトの実行判断
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マイナビ転職フェア富山(10月・1月)は20〜30代来場が中心でターゲット合致。出展費用の交渉結果を踏まえ9月中に出展可否を判断。職人スカウトは北陸登録者数の回答次第で費用対効果を見極め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384048" cy="384048"/>
          </a:xfrm>
          <a:prstGeom prst="ellipse">
            <a:avLst/>
          </a:prstGeom>
          <a:solidFill>
            <a:srgbClr val="E8762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470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40156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20〜30代の選考移行率の改善(最重要)
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初回接触を24時間以内・固定電話→SMS→LINEの順で徹底し、若手の連絡途絶を防止。オンライン説明会への誘導を全応募者の標準フローにし、「応募→説明会参加」の移行率をKPIとして毎週計測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407408"/>
            <a:ext cx="384048" cy="384048"/>
          </a:xfrm>
          <a:prstGeom prst="ellipse">
            <a:avLst/>
          </a:prstGeom>
          <a:solidFill>
            <a:srgbClr val="E8762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402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334256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休日制度の検討(中長期)
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若年層応募の最大障壁は「年間休日数」(競合は土日祝休み訴求)。土曜出勤の段階的見直しは、採用競争力に直結する経営テーマとしてご検討を推奨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5340096"/>
            <a:ext cx="384048" cy="384048"/>
          </a:xfrm>
          <a:prstGeom prst="ellipse">
            <a:avLst/>
          </a:prstGeom>
          <a:solidFill>
            <a:srgbClr val="E8762C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53355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266944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計測基盤の整備
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LP・広告の効果測定(コンバージョン計測・GA4)を整備し、8月以降の投資判断を数値で行える状態にする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206240" cy="42062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引き続き、松下工業様の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採用成功に伴走いたします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32688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9ヶ月間、密なご協力をいただき誠にありがとうございました。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築き上げた採用基盤と検証結果を、これからの成果につなげてまいります。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32688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Talenco  担当:佐々木 純平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2026-08-05T06:35:45Z</dcterms:created>
  <dcterms:modified xsi:type="dcterms:W3CDTF">2026-08-05T06:35:45Z</dcterms:modified>
</cp:coreProperties>
</file>