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Indeed 月間表示回数の推移(有料化:3月〜)</a:t>
            </a:r>
          </a:p>
        </c:rich>
      </c:tx>
      <c:layout/>
      <c:overlay val="0"/>
    </c:title>
    <c:autoTitleDeleted val="0"/>
    <c:plotArea>
      <c:layout/>
      <c:barChart>
        <c:barDir val="col"/>
        <c:grouping val="clustered"/>
        <c:varyColors val="0"/>
        <c:ser>
          <c:idx val="0"/>
          <c:order val="0"/>
          <c:tx>
            <c:strRef>
              <c:f>Sheet1!$B$1</c:f>
              <c:strCache>
                <c:ptCount val="1"/>
                <c:pt idx="0">
                  <c:v>Indeed表示回数</c:v>
                </c:pt>
              </c:strCache>
            </c:strRef>
          </c:tx>
          <c:spPr>
            <a:solidFill>
              <a:srgbClr val="1B3A5C"/>
            </a:solidFill>
            <a:effectLst/>
          </c:spPr>
          <c:invertIfNegative val="0"/>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cat>
            <c:multiLvlStrRef>
              <c:f>Sheet1!$A$2:$A$9</c:f>
              <c:multiLvlStrCache>
                <c:ptCount val="8"/>
                <c:lvl>
                  <c:pt idx="0">
                    <c:v>12月</c:v>
                  </c:pt>
                  <c:pt idx="1">
                    <c:v>1月</c:v>
                  </c:pt>
                  <c:pt idx="2">
                    <c:v>2月</c:v>
                  </c:pt>
                  <c:pt idx="3">
                    <c:v>3月</c:v>
                  </c:pt>
                  <c:pt idx="4">
                    <c:v>4月</c:v>
                  </c:pt>
                  <c:pt idx="5">
                    <c:v>5月</c:v>
                  </c:pt>
                  <c:pt idx="6">
                    <c:v>6月</c:v>
                  </c:pt>
                  <c:pt idx="7">
                    <c:v>7月</c:v>
                  </c:pt>
                </c:lvl>
              </c:multiLvlStrCache>
            </c:multiLvlStrRef>
          </c:cat>
          <c:val>
            <c:numRef>
              <c:f>Sheet1!$B$2:$B$9</c:f>
              <c:numCache>
                <c:formatCode>General</c:formatCode>
                <c:ptCount val="8"/>
                <c:pt idx="0">
                  <c:v>108</c:v>
                </c:pt>
                <c:pt idx="1">
                  <c:v>177</c:v>
                </c:pt>
                <c:pt idx="2">
                  <c:v>220</c:v>
                </c:pt>
                <c:pt idx="3">
                  <c:v>1048</c:v>
                </c:pt>
                <c:pt idx="4">
                  <c:v>2378</c:v>
                </c:pt>
                <c:pt idx="5">
                  <c:v>2052</c:v>
                </c:pt>
                <c:pt idx="6">
                  <c:v>3585</c:v>
                </c:pt>
                <c:pt idx="7">
                  <c:v>2632</c:v>
                </c:pt>
              </c:numCache>
            </c:numRef>
          </c:val>
        </c:ser>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Yu Gothic"/>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媒体別 応募者数と年代内訳(実人数12名)</a:t>
            </a:r>
          </a:p>
        </c:rich>
      </c:tx>
      <c:layout/>
      <c:overlay val="0"/>
    </c:title>
    <c:autoTitleDeleted val="0"/>
    <c:plotArea>
      <c:layout/>
      <c:barChart>
        <c:barDir val="bar"/>
        <c:grouping val="stacked"/>
        <c:varyColors val="0"/>
        <c:ser>
          <c:idx val="0"/>
          <c:order val="0"/>
          <c:tx>
            <c:strRef>
              <c:f>Sheet1!$B$1</c:f>
              <c:strCache>
                <c:ptCount val="1"/>
                <c:pt idx="0">
                  <c:v>20〜30代</c:v>
                </c:pt>
              </c:strCache>
            </c:strRef>
          </c:tx>
          <c:spPr>
            <a:solidFill>
              <a:srgbClr val="E8762C"/>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Sheet1!$B$2:$B$5</c:f>
              <c:numCache>
                <c:formatCode>General</c:formatCode>
                <c:ptCount val="4"/>
                <c:pt idx="0">
                  <c:v>4</c:v>
                </c:pt>
                <c:pt idx="1">
                  <c:v>2</c:v>
                </c:pt>
                <c:pt idx="2">
                  <c:v>1</c:v>
                </c:pt>
                <c:pt idx="3">
                  <c:v>1</c:v>
                </c:pt>
              </c:numCache>
            </c:numRef>
          </c:val>
        </c:ser>
        <c:ser>
          <c:idx val="1"/>
          <c:order val="1"/>
          <c:tx>
            <c:strRef>
              <c:f>Sheet1!$C$1</c:f>
              <c:strCache>
                <c:ptCount val="1"/>
                <c:pt idx="0">
                  <c:v>40代以上</c:v>
                </c:pt>
              </c:strCache>
            </c:strRef>
          </c:tx>
          <c:spPr>
            <a:solidFill>
              <a:srgbClr val="5A7A99"/>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Sheet1!$C$2:$C$5</c:f>
              <c:numCache>
                <c:formatCode>General</c:formatCode>
                <c:ptCount val="4"/>
                <c:pt idx="0">
                  <c:v>1</c:v>
                </c:pt>
                <c:pt idx="1">
                  <c:v>1</c:v>
                </c:pt>
                <c:pt idx="2">
                  <c:v>2</c:v>
                </c:pt>
                <c:pt idx="3">
                  <c:v>0</c:v>
                </c:pt>
              </c:numCache>
            </c:numRef>
          </c:val>
        </c:ser>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74151"/>
                </a:solidFill>
                <a:latin typeface="Yu Gothic"/>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000">
              <a:solidFill>
                <a:srgbClr val="374151"/>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293F"/>
          </a:solidFill>
          <a:ln/>
        </p:spPr>
      </p:sp>
      <p:sp>
        <p:nvSpPr>
          <p:cNvPr id="3" name="Shape 1"/>
          <p:cNvSpPr/>
          <p:nvPr/>
        </p:nvSpPr>
        <p:spPr>
          <a:xfrm>
            <a:off x="9509760" y="4023360"/>
            <a:ext cx="4206240" cy="4206240"/>
          </a:xfrm>
          <a:prstGeom prst="ellipse">
            <a:avLst/>
          </a:prstGeom>
          <a:solidFill>
            <a:srgbClr val="1B3A5C"/>
          </a:solidFill>
          <a:ln/>
        </p:spPr>
      </p:sp>
      <p:sp>
        <p:nvSpPr>
          <p:cNvPr id="4" name="Shape 2"/>
          <p:cNvSpPr/>
          <p:nvPr/>
        </p:nvSpPr>
        <p:spPr>
          <a:xfrm>
            <a:off x="10515600" y="5029200"/>
            <a:ext cx="2194560" cy="2194560"/>
          </a:xfrm>
          <a:prstGeom prst="ellipse">
            <a:avLst/>
          </a:prstGeom>
          <a:solidFill>
            <a:srgbClr val="1F4468"/>
          </a:solidFill>
          <a:ln/>
        </p:spPr>
      </p:sp>
      <p:sp>
        <p:nvSpPr>
          <p:cNvPr id="5" name="Text 3"/>
          <p:cNvSpPr/>
          <p:nvPr/>
        </p:nvSpPr>
        <p:spPr>
          <a:xfrm>
            <a:off x="822960" y="214884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採用強化支援 総括レポート</a:t>
            </a:r>
            <a:endParaRPr lang="en-US" sz="4400" dirty="0"/>
          </a:p>
        </p:txBody>
      </p:sp>
      <p:sp>
        <p:nvSpPr>
          <p:cNvPr id="6" name="Text 4"/>
          <p:cNvSpPr/>
          <p:nvPr/>
        </p:nvSpPr>
        <p:spPr>
          <a:xfrm>
            <a:off x="841248" y="3154680"/>
            <a:ext cx="9144000" cy="548640"/>
          </a:xfrm>
          <a:prstGeom prst="rect">
            <a:avLst/>
          </a:prstGeom>
          <a:noFill/>
          <a:ln/>
        </p:spPr>
        <p:txBody>
          <a:bodyPr wrap="square" lIns="0" tIns="0" rIns="0" bIns="0" rtlCol="0" anchor="ctr"/>
          <a:lstStyle/>
          <a:p>
            <a:pPr indent="0" marL="0">
              <a:buNone/>
            </a:pPr>
            <a:r>
              <a:rPr lang="en-US" sz="2400" dirty="0">
                <a:solidFill>
                  <a:srgbClr val="CADCFC"/>
                </a:solidFill>
                <a:latin typeface="Yu Gothic" pitchFamily="34" charset="0"/>
                <a:ea typeface="Yu Gothic" pitchFamily="34" charset="-122"/>
                <a:cs typeface="Yu Gothic" pitchFamily="34" charset="-120"/>
              </a:rPr>
              <a:t>株式会社松下工業様</a:t>
            </a:r>
            <a:endParaRPr lang="en-US" sz="2400" dirty="0"/>
          </a:p>
        </p:txBody>
      </p:sp>
      <p:sp>
        <p:nvSpPr>
          <p:cNvPr id="7" name="Text 5"/>
          <p:cNvSpPr/>
          <p:nvPr/>
        </p:nvSpPr>
        <p:spPr>
          <a:xfrm>
            <a:off x="841248" y="3977640"/>
            <a:ext cx="9144000" cy="365760"/>
          </a:xfrm>
          <a:prstGeom prst="rect">
            <a:avLst/>
          </a:prstGeom>
          <a:noFill/>
          <a:ln/>
        </p:spPr>
        <p:txBody>
          <a:bodyPr wrap="square" lIns="0" tIns="0" rIns="0" bIns="0" rtlCol="0" anchor="ctr"/>
          <a:lstStyle/>
          <a:p>
            <a:pPr indent="0" marL="0">
              <a:buNone/>
            </a:pPr>
            <a:r>
              <a:rPr lang="en-US" sz="1500" dirty="0">
                <a:solidFill>
                  <a:srgbClr val="9FB8D4"/>
                </a:solidFill>
                <a:latin typeface="Yu Gothic" pitchFamily="34" charset="0"/>
                <a:ea typeface="Yu Gothic" pitchFamily="34" charset="-122"/>
                <a:cs typeface="Yu Gothic" pitchFamily="34" charset="-120"/>
              </a:rPr>
              <a:t>支援期間:2025年12月 〜 2026年8月</a:t>
            </a:r>
            <a:endParaRPr lang="en-US" sz="1500" dirty="0"/>
          </a:p>
        </p:txBody>
      </p:sp>
      <p:sp>
        <p:nvSpPr>
          <p:cNvPr id="8" name="Shape 6"/>
          <p:cNvSpPr/>
          <p:nvPr/>
        </p:nvSpPr>
        <p:spPr>
          <a:xfrm>
            <a:off x="841248" y="5806440"/>
            <a:ext cx="2377440" cy="502920"/>
          </a:xfrm>
          <a:prstGeom prst="roundRect">
            <a:avLst>
              <a:gd name="adj" fmla="val 14545"/>
            </a:avLst>
          </a:prstGeom>
          <a:solidFill>
            <a:srgbClr val="E8762C"/>
          </a:solidFill>
          <a:ln/>
        </p:spPr>
      </p:sp>
      <p:sp>
        <p:nvSpPr>
          <p:cNvPr id="9" name="Text 7"/>
          <p:cNvSpPr/>
          <p:nvPr/>
        </p:nvSpPr>
        <p:spPr>
          <a:xfrm>
            <a:off x="841248" y="5806440"/>
            <a:ext cx="237744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2026年8月7日  Talenco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エグゼクティブサマリー</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目的である「20・30代の若手採用」に向け、応募の3分の2がターゲット年代という状態を実現しました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02</a:t>
            </a:r>
            <a:endParaRPr lang="en-US" sz="1600" dirty="0"/>
          </a:p>
        </p:txBody>
      </p:sp>
      <p:sp>
        <p:nvSpPr>
          <p:cNvPr id="5" name="Shape 3"/>
          <p:cNvSpPr/>
          <p:nvPr/>
        </p:nvSpPr>
        <p:spPr>
          <a:xfrm>
            <a:off x="548640" y="1554480"/>
            <a:ext cx="2697480" cy="1600200"/>
          </a:xfrm>
          <a:prstGeom prst="roundRect">
            <a:avLst>
              <a:gd name="adj" fmla="val 4571"/>
            </a:avLst>
          </a:prstGeom>
          <a:solidFill>
            <a:srgbClr val="F2F6FA"/>
          </a:solidFill>
          <a:ln/>
        </p:spPr>
      </p:sp>
      <p:sp>
        <p:nvSpPr>
          <p:cNvPr id="6" name="Text 4"/>
          <p:cNvSpPr/>
          <p:nvPr/>
        </p:nvSpPr>
        <p:spPr>
          <a:xfrm>
            <a:off x="68580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8/12名</a:t>
            </a:r>
            <a:endParaRPr lang="en-US" sz="3200" dirty="0"/>
          </a:p>
        </p:txBody>
      </p:sp>
      <p:sp>
        <p:nvSpPr>
          <p:cNvPr id="7" name="Text 5"/>
          <p:cNvSpPr/>
          <p:nvPr/>
        </p:nvSpPr>
        <p:spPr>
          <a:xfrm>
            <a:off x="68580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20〜30代の応募</a:t>
            </a:r>
            <a:endParaRPr lang="en-US" sz="1250" dirty="0"/>
          </a:p>
        </p:txBody>
      </p:sp>
      <p:sp>
        <p:nvSpPr>
          <p:cNvPr id="8" name="Text 6"/>
          <p:cNvSpPr/>
          <p:nvPr/>
        </p:nvSpPr>
        <p:spPr>
          <a:xfrm>
            <a:off x="68580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全応募者12名中8名(67%)がターゲット年代。毎月継続的に発生</a:t>
            </a:r>
            <a:endParaRPr lang="en-US" sz="950" dirty="0"/>
          </a:p>
        </p:txBody>
      </p:sp>
      <p:sp>
        <p:nvSpPr>
          <p:cNvPr id="9" name="Shape 7"/>
          <p:cNvSpPr/>
          <p:nvPr/>
        </p:nvSpPr>
        <p:spPr>
          <a:xfrm>
            <a:off x="3429000" y="1554480"/>
            <a:ext cx="2697480" cy="1600200"/>
          </a:xfrm>
          <a:prstGeom prst="roundRect">
            <a:avLst>
              <a:gd name="adj" fmla="val 4571"/>
            </a:avLst>
          </a:prstGeom>
          <a:solidFill>
            <a:srgbClr val="F2F6FA"/>
          </a:solidFill>
          <a:ln/>
        </p:spPr>
      </p:sp>
      <p:sp>
        <p:nvSpPr>
          <p:cNvPr id="10" name="Text 8"/>
          <p:cNvSpPr/>
          <p:nvPr/>
        </p:nvSpPr>
        <p:spPr>
          <a:xfrm>
            <a:off x="356616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13件</a:t>
            </a:r>
            <a:endParaRPr lang="en-US" sz="3200" dirty="0"/>
          </a:p>
        </p:txBody>
      </p:sp>
      <p:sp>
        <p:nvSpPr>
          <p:cNvPr id="11" name="Text 9"/>
          <p:cNvSpPr/>
          <p:nvPr/>
        </p:nvSpPr>
        <p:spPr>
          <a:xfrm>
            <a:off x="356616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応募獲得(3〜7月)</a:t>
            </a:r>
            <a:endParaRPr lang="en-US" sz="1250" dirty="0"/>
          </a:p>
        </p:txBody>
      </p:sp>
      <p:sp>
        <p:nvSpPr>
          <p:cNvPr id="12" name="Text 10"/>
          <p:cNvSpPr/>
          <p:nvPr/>
        </p:nvSpPr>
        <p:spPr>
          <a:xfrm>
            <a:off x="356616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支援前の応募ゼロ状態から、毎月応募が発生する状態へ</a:t>
            </a:r>
            <a:endParaRPr lang="en-US" sz="950" dirty="0"/>
          </a:p>
        </p:txBody>
      </p:sp>
      <p:sp>
        <p:nvSpPr>
          <p:cNvPr id="13" name="Shape 11"/>
          <p:cNvSpPr/>
          <p:nvPr/>
        </p:nvSpPr>
        <p:spPr>
          <a:xfrm>
            <a:off x="6309360" y="1554480"/>
            <a:ext cx="2697480" cy="1600200"/>
          </a:xfrm>
          <a:prstGeom prst="roundRect">
            <a:avLst>
              <a:gd name="adj" fmla="val 4571"/>
            </a:avLst>
          </a:prstGeom>
          <a:solidFill>
            <a:srgbClr val="F2F6FA"/>
          </a:solidFill>
          <a:ln/>
        </p:spPr>
      </p:sp>
      <p:sp>
        <p:nvSpPr>
          <p:cNvPr id="14" name="Text 12"/>
          <p:cNvSpPr/>
          <p:nvPr/>
        </p:nvSpPr>
        <p:spPr>
          <a:xfrm>
            <a:off x="644652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7媒体+</a:t>
            </a:r>
            <a:endParaRPr lang="en-US" sz="3200" dirty="0"/>
          </a:p>
        </p:txBody>
      </p:sp>
      <p:sp>
        <p:nvSpPr>
          <p:cNvPr id="15" name="Text 13"/>
          <p:cNvSpPr/>
          <p:nvPr/>
        </p:nvSpPr>
        <p:spPr>
          <a:xfrm>
            <a:off x="644652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採用チャネル構築</a:t>
            </a:r>
            <a:endParaRPr lang="en-US" sz="1250" dirty="0"/>
          </a:p>
        </p:txBody>
      </p:sp>
      <p:sp>
        <p:nvSpPr>
          <p:cNvPr id="16" name="Text 14"/>
          <p:cNvSpPr/>
          <p:nvPr/>
        </p:nvSpPr>
        <p:spPr>
          <a:xfrm>
            <a:off x="644652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Indeed・求人BOX・ヤギオファー・ハローワーク・Meta・Google・SNS</a:t>
            </a:r>
            <a:endParaRPr lang="en-US" sz="950" dirty="0"/>
          </a:p>
        </p:txBody>
      </p:sp>
      <p:sp>
        <p:nvSpPr>
          <p:cNvPr id="17" name="Shape 15"/>
          <p:cNvSpPr/>
          <p:nvPr/>
        </p:nvSpPr>
        <p:spPr>
          <a:xfrm>
            <a:off x="9189720" y="1554480"/>
            <a:ext cx="2468880" cy="1600200"/>
          </a:xfrm>
          <a:prstGeom prst="roundRect">
            <a:avLst>
              <a:gd name="adj" fmla="val 4571"/>
            </a:avLst>
          </a:prstGeom>
          <a:solidFill>
            <a:srgbClr val="F2F6FA"/>
          </a:solidFill>
          <a:ln/>
        </p:spPr>
      </p:sp>
      <p:sp>
        <p:nvSpPr>
          <p:cNvPr id="18" name="Text 16"/>
          <p:cNvSpPr/>
          <p:nvPr/>
        </p:nvSpPr>
        <p:spPr>
          <a:xfrm>
            <a:off x="9326880" y="1664208"/>
            <a:ext cx="21945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33倍</a:t>
            </a:r>
            <a:endParaRPr lang="en-US" sz="3200" dirty="0"/>
          </a:p>
        </p:txBody>
      </p:sp>
      <p:sp>
        <p:nvSpPr>
          <p:cNvPr id="19" name="Text 17"/>
          <p:cNvSpPr/>
          <p:nvPr/>
        </p:nvSpPr>
        <p:spPr>
          <a:xfrm>
            <a:off x="9326880" y="2434590"/>
            <a:ext cx="21945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月間露出の拡大</a:t>
            </a:r>
            <a:endParaRPr lang="en-US" sz="1250" dirty="0"/>
          </a:p>
        </p:txBody>
      </p:sp>
      <p:sp>
        <p:nvSpPr>
          <p:cNvPr id="20" name="Text 18"/>
          <p:cNvSpPr/>
          <p:nvPr/>
        </p:nvSpPr>
        <p:spPr>
          <a:xfrm>
            <a:off x="9326880" y="2708910"/>
            <a:ext cx="21945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Indeed表示回数 108回(12月)→3,585回(6月)</a:t>
            </a:r>
            <a:endParaRPr lang="en-US" sz="950" dirty="0"/>
          </a:p>
        </p:txBody>
      </p:sp>
      <p:sp>
        <p:nvSpPr>
          <p:cNvPr id="21" name="Shape 19"/>
          <p:cNvSpPr/>
          <p:nvPr/>
        </p:nvSpPr>
        <p:spPr>
          <a:xfrm>
            <a:off x="594360" y="3520440"/>
            <a:ext cx="384048" cy="384048"/>
          </a:xfrm>
          <a:prstGeom prst="ellipse">
            <a:avLst/>
          </a:prstGeom>
          <a:solidFill>
            <a:srgbClr val="E8762C"/>
          </a:solidFill>
          <a:ln/>
        </p:spPr>
      </p:sp>
      <p:sp>
        <p:nvSpPr>
          <p:cNvPr id="22" name="Text 20"/>
          <p:cNvSpPr/>
          <p:nvPr/>
        </p:nvSpPr>
        <p:spPr>
          <a:xfrm>
            <a:off x="594360" y="35158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3" name="Text 21"/>
          <p:cNvSpPr/>
          <p:nvPr/>
        </p:nvSpPr>
        <p:spPr>
          <a:xfrm>
            <a:off x="1143000" y="3447288"/>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採用基盤の整備  </a:t>
            </a:r>
            <a:pPr indent="0" marL="0">
              <a:buNone/>
            </a:pPr>
            <a:r>
              <a:rPr lang="en-US" sz="1250" dirty="0">
                <a:solidFill>
                  <a:srgbClr val="374151"/>
                </a:solidFill>
                <a:latin typeface="Yu Gothic" pitchFamily="34" charset="0"/>
                <a:ea typeface="Yu Gothic" pitchFamily="34" charset="-122"/>
                <a:cs typeface="Yu Gothic" pitchFamily="34" charset="-120"/>
              </a:rPr>
              <a:t>社員インタビューによる訴求素材の発掘、求人原稿・面接フロー・媒体アカウントをゼロから構築し、求人を公開。</a:t>
            </a:r>
            <a:endParaRPr lang="en-US" sz="1250" dirty="0"/>
          </a:p>
        </p:txBody>
      </p:sp>
      <p:sp>
        <p:nvSpPr>
          <p:cNvPr id="24" name="Shape 22"/>
          <p:cNvSpPr/>
          <p:nvPr/>
        </p:nvSpPr>
        <p:spPr>
          <a:xfrm>
            <a:off x="594360" y="4279392"/>
            <a:ext cx="384048" cy="384048"/>
          </a:xfrm>
          <a:prstGeom prst="ellipse">
            <a:avLst/>
          </a:prstGeom>
          <a:solidFill>
            <a:srgbClr val="E8762C"/>
          </a:solidFill>
          <a:ln/>
        </p:spPr>
      </p:sp>
      <p:sp>
        <p:nvSpPr>
          <p:cNvPr id="25" name="Text 23"/>
          <p:cNvSpPr/>
          <p:nvPr/>
        </p:nvSpPr>
        <p:spPr>
          <a:xfrm>
            <a:off x="594360" y="42748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6" name="Text 24"/>
          <p:cNvSpPr/>
          <p:nvPr/>
        </p:nvSpPr>
        <p:spPr>
          <a:xfrm>
            <a:off x="1143000" y="4206240"/>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20・30代に届く独自ポジションの確立  </a:t>
            </a:r>
            <a:pPr indent="0" marL="0">
              <a:buNone/>
            </a:pPr>
            <a:r>
              <a:rPr lang="en-US" sz="1250" dirty="0">
                <a:solidFill>
                  <a:srgbClr val="374151"/>
                </a:solidFill>
                <a:latin typeface="Yu Gothic" pitchFamily="34" charset="0"/>
                <a:ea typeface="Yu Gothic" pitchFamily="34" charset="-122"/>
                <a:cs typeface="Yu Gothic" pitchFamily="34" charset="-120"/>
              </a:rPr>
              <a:t>検証を重ね、ペルソナを「オタク気質・マニア層」へ転換。「AIに代替されない技術」との2軸が奏功し、20〜30代が応募の中心に。</a:t>
            </a:r>
            <a:endParaRPr lang="en-US" sz="1250" dirty="0"/>
          </a:p>
        </p:txBody>
      </p:sp>
      <p:sp>
        <p:nvSpPr>
          <p:cNvPr id="27" name="Shape 25"/>
          <p:cNvSpPr/>
          <p:nvPr/>
        </p:nvSpPr>
        <p:spPr>
          <a:xfrm>
            <a:off x="594360" y="5038344"/>
            <a:ext cx="384048" cy="384048"/>
          </a:xfrm>
          <a:prstGeom prst="ellipse">
            <a:avLst/>
          </a:prstGeom>
          <a:solidFill>
            <a:srgbClr val="E8762C"/>
          </a:solidFill>
          <a:ln/>
        </p:spPr>
      </p:sp>
      <p:sp>
        <p:nvSpPr>
          <p:cNvPr id="28" name="Text 26"/>
          <p:cNvSpPr/>
          <p:nvPr/>
        </p:nvSpPr>
        <p:spPr>
          <a:xfrm>
            <a:off x="594360" y="5033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9" name="Text 27"/>
          <p:cNvSpPr/>
          <p:nvPr/>
        </p:nvSpPr>
        <p:spPr>
          <a:xfrm>
            <a:off x="1143000" y="4965192"/>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応募導線の多様化  </a:t>
            </a:r>
            <a:pPr indent="0" marL="0">
              <a:buNone/>
            </a:pPr>
            <a:r>
              <a:rPr lang="en-US" sz="1250" dirty="0">
                <a:solidFill>
                  <a:srgbClr val="374151"/>
                </a:solidFill>
                <a:latin typeface="Yu Gothic" pitchFamily="34" charset="0"/>
                <a:ea typeface="Yu Gothic" pitchFamily="34" charset="-122"/>
                <a:cs typeface="Yu Gothic" pitchFamily="34" charset="-120"/>
              </a:rPr>
              <a:t>自社説明会→オンライン説明会、LP改善、LINE公式、SNSと、若手の応募ハードルを下げる導線を段階的に整備。</a:t>
            </a:r>
            <a:endParaRPr lang="en-US" sz="1250" dirty="0"/>
          </a:p>
        </p:txBody>
      </p:sp>
      <p:sp>
        <p:nvSpPr>
          <p:cNvPr id="30" name="Shape 28"/>
          <p:cNvSpPr/>
          <p:nvPr/>
        </p:nvSpPr>
        <p:spPr>
          <a:xfrm>
            <a:off x="594360" y="5797296"/>
            <a:ext cx="384048" cy="384048"/>
          </a:xfrm>
          <a:prstGeom prst="ellipse">
            <a:avLst/>
          </a:prstGeom>
          <a:solidFill>
            <a:srgbClr val="5A7A99"/>
          </a:solidFill>
          <a:ln/>
        </p:spPr>
      </p:sp>
      <p:sp>
        <p:nvSpPr>
          <p:cNvPr id="31" name="Text 29"/>
          <p:cNvSpPr/>
          <p:nvPr/>
        </p:nvSpPr>
        <p:spPr>
          <a:xfrm>
            <a:off x="594360" y="57927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32" name="Text 30"/>
          <p:cNvSpPr/>
          <p:nvPr/>
        </p:nvSpPr>
        <p:spPr>
          <a:xfrm>
            <a:off x="1143000" y="5724144"/>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残る課題  </a:t>
            </a:r>
            <a:pPr indent="0" marL="0">
              <a:buNone/>
            </a:pPr>
            <a:r>
              <a:rPr lang="en-US" sz="1250" dirty="0">
                <a:solidFill>
                  <a:srgbClr val="374151"/>
                </a:solidFill>
                <a:latin typeface="Yu Gothic" pitchFamily="34" charset="0"/>
                <a:ea typeface="Yu Gothic" pitchFamily="34" charset="-122"/>
                <a:cs typeface="Yu Gothic" pitchFamily="34" charset="-120"/>
              </a:rPr>
              <a:t>応募から選考への移行が壁(書類通過・面接0名)。①経験者市場の不足 ②情報の透明性不足 ③求職者との接点不足 の3つの課題認識と対応策を後半でご提案します。</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支援の概要</a:t>
            </a:r>
            <a:endParaRPr lang="en-US" sz="3000" dirty="0"/>
          </a:p>
        </p:txBody>
      </p:sp>
      <p:sp>
        <p:nvSpPr>
          <p:cNvPr id="3" name="Text 1"/>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03</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863840" cy="914400"/>
        </p:xfrm>
        <a:graphic>
          <a:graphicData uri="http://schemas.openxmlformats.org/drawingml/2006/table">
            <a:tbl>
              <a:tblPr/>
              <a:tblGrid>
                <a:gridCol w="1737360"/>
                <a:gridCol w="6126480"/>
              </a:tblGrid>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支援期間</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2025年12月 〜 2026年8月(9ヶ月)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支援内容</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採用強化支援(募集職種:配管工・現場作業スタッフ/未経験・経験者)</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ターゲット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20・30代の未経験/第二新卒(オタク気質層)を主軸に、経験者を併用</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体制</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Talenco 佐々木(担当コンサルタント)・山本/株式会社サーキュレーション経由のご契約</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ミーティング</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定例ミーティングを週次〜隔週で実施(オンライン中心・議事録を毎回共有)</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月間広告予算</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計¥60,000(Indeed ¥30,000/求人BOX ¥10,000/ヤギオファー ¥10,000/Meta ¥10,000)</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目標</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20・30代の配管工採用(週次進捗管理:目標1名・2026年2月〜52週)</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bl>
          </a:graphicData>
        </a:graphic>
      </p:graphicFrame>
      <p:sp>
        <p:nvSpPr>
          <p:cNvPr id="5" name="Shape 2"/>
          <p:cNvSpPr/>
          <p:nvPr/>
        </p:nvSpPr>
        <p:spPr>
          <a:xfrm>
            <a:off x="8686800" y="1508760"/>
            <a:ext cx="2971800" cy="4206240"/>
          </a:xfrm>
          <a:prstGeom prst="roundRect">
            <a:avLst>
              <a:gd name="adj" fmla="val 2462"/>
            </a:avLst>
          </a:prstGeom>
          <a:solidFill>
            <a:srgbClr val="1B3A5C"/>
          </a:solidFill>
          <a:ln/>
        </p:spPr>
      </p:sp>
      <p:sp>
        <p:nvSpPr>
          <p:cNvPr id="6" name="Text 3"/>
          <p:cNvSpPr/>
          <p:nvPr/>
        </p:nvSpPr>
        <p:spPr>
          <a:xfrm>
            <a:off x="8915400" y="1737360"/>
            <a:ext cx="2560320" cy="54864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社員インタビューで発掘した訴求素材</a:t>
            </a:r>
            <a:endParaRPr lang="en-US" sz="1300" dirty="0"/>
          </a:p>
        </p:txBody>
      </p:sp>
      <p:sp>
        <p:nvSpPr>
          <p:cNvPr id="7" name="Text 4"/>
          <p:cNvSpPr/>
          <p:nvPr/>
        </p:nvSpPr>
        <p:spPr>
          <a:xfrm>
            <a:off x="8915400" y="233172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基本17時退社・残業しづらい空気</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資格取得費用を会社が全額負担・受験日は出勤扱い</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怒鳴る親方文化なし・アットホームな現場</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創業70年以上・地域インフラを支える安定性</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配管はパズルのような技術の面白さ</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支援の歩み ─ 6つのフェーズ</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市場の反応を検証しながら、打ち手を段階的に進化させました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04</a:t>
            </a:r>
            <a:endParaRPr lang="en-US" sz="1600" dirty="0"/>
          </a:p>
        </p:txBody>
      </p:sp>
      <p:sp>
        <p:nvSpPr>
          <p:cNvPr id="5" name="Shape 3"/>
          <p:cNvSpPr/>
          <p:nvPr/>
        </p:nvSpPr>
        <p:spPr>
          <a:xfrm>
            <a:off x="548640" y="1572768"/>
            <a:ext cx="1417320" cy="713232"/>
          </a:xfrm>
          <a:prstGeom prst="roundRect">
            <a:avLst>
              <a:gd name="adj" fmla="val 7692"/>
            </a:avLst>
          </a:prstGeom>
          <a:solidFill>
            <a:srgbClr val="1B3A5C"/>
          </a:solidFill>
          <a:ln/>
        </p:spPr>
      </p:sp>
      <p:sp>
        <p:nvSpPr>
          <p:cNvPr id="6" name="Text 4"/>
          <p:cNvSpPr/>
          <p:nvPr/>
        </p:nvSpPr>
        <p:spPr>
          <a:xfrm>
            <a:off x="548640" y="157276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2025/12</a:t>
            </a:r>
            <a:endParaRPr lang="en-US" sz="1300" dirty="0"/>
          </a:p>
        </p:txBody>
      </p:sp>
      <p:sp>
        <p:nvSpPr>
          <p:cNvPr id="7" name="Text 5"/>
          <p:cNvSpPr/>
          <p:nvPr/>
        </p:nvSpPr>
        <p:spPr>
          <a:xfrm>
            <a:off x="2194560" y="159105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立ち上げ・素材収集   </a:t>
            </a:r>
            <a:pPr indent="0" marL="0">
              <a:buNone/>
            </a:pPr>
            <a:r>
              <a:rPr lang="en-US" sz="1150" dirty="0">
                <a:solidFill>
                  <a:srgbClr val="374151"/>
                </a:solidFill>
                <a:latin typeface="Yu Gothic" pitchFamily="34" charset="0"/>
                <a:ea typeface="Yu Gothic" pitchFamily="34" charset="-122"/>
                <a:cs typeface="Yu Gothic" pitchFamily="34" charset="-120"/>
              </a:rPr>
              <a:t>社員インタビュー2件で魅力を言語化。求人原稿・面接フロー・媒体を整備し年内に求人公開</a:t>
            </a:r>
            <a:endParaRPr lang="en-US" sz="1350" dirty="0"/>
          </a:p>
        </p:txBody>
      </p:sp>
      <p:sp>
        <p:nvSpPr>
          <p:cNvPr id="8" name="Shape 6"/>
          <p:cNvSpPr/>
          <p:nvPr/>
        </p:nvSpPr>
        <p:spPr>
          <a:xfrm>
            <a:off x="1216152" y="2286000"/>
            <a:ext cx="32004" cy="146304"/>
          </a:xfrm>
          <a:prstGeom prst="rect">
            <a:avLst/>
          </a:prstGeom>
          <a:solidFill>
            <a:srgbClr val="5A7A99"/>
          </a:solidFill>
          <a:ln/>
        </p:spPr>
      </p:sp>
      <p:sp>
        <p:nvSpPr>
          <p:cNvPr id="9" name="Shape 7"/>
          <p:cNvSpPr/>
          <p:nvPr/>
        </p:nvSpPr>
        <p:spPr>
          <a:xfrm>
            <a:off x="548640" y="2432304"/>
            <a:ext cx="1417320" cy="713232"/>
          </a:xfrm>
          <a:prstGeom prst="roundRect">
            <a:avLst>
              <a:gd name="adj" fmla="val 7692"/>
            </a:avLst>
          </a:prstGeom>
          <a:solidFill>
            <a:srgbClr val="1B3A5C"/>
          </a:solidFill>
          <a:ln/>
        </p:spPr>
      </p:sp>
      <p:sp>
        <p:nvSpPr>
          <p:cNvPr id="10" name="Text 8"/>
          <p:cNvSpPr/>
          <p:nvPr/>
        </p:nvSpPr>
        <p:spPr>
          <a:xfrm>
            <a:off x="548640" y="2432304"/>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2026/1-2</a:t>
            </a:r>
            <a:endParaRPr lang="en-US" sz="1300" dirty="0"/>
          </a:p>
        </p:txBody>
      </p:sp>
      <p:sp>
        <p:nvSpPr>
          <p:cNvPr id="11" name="Text 9"/>
          <p:cNvSpPr/>
          <p:nvPr/>
        </p:nvSpPr>
        <p:spPr>
          <a:xfrm>
            <a:off x="2194560" y="2450592"/>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無料掲載検証・説明会企画   </a:t>
            </a:r>
            <a:pPr indent="0" marL="0">
              <a:buNone/>
            </a:pPr>
            <a:r>
              <a:rPr lang="en-US" sz="1150" dirty="0">
                <a:solidFill>
                  <a:srgbClr val="374151"/>
                </a:solidFill>
                <a:latin typeface="Yu Gothic" pitchFamily="34" charset="0"/>
                <a:ea typeface="Yu Gothic" pitchFamily="34" charset="-122"/>
                <a:cs typeface="Yu Gothic" pitchFamily="34" charset="-120"/>
              </a:rPr>
              <a:t>無料掲載では露出不足と判明。応募ハードルを下げる自社説明会を企画、LP改善方針を策定</a:t>
            </a:r>
            <a:endParaRPr lang="en-US" sz="1350" dirty="0"/>
          </a:p>
        </p:txBody>
      </p:sp>
      <p:sp>
        <p:nvSpPr>
          <p:cNvPr id="12" name="Shape 10"/>
          <p:cNvSpPr/>
          <p:nvPr/>
        </p:nvSpPr>
        <p:spPr>
          <a:xfrm>
            <a:off x="1216152" y="3145536"/>
            <a:ext cx="32004" cy="146304"/>
          </a:xfrm>
          <a:prstGeom prst="rect">
            <a:avLst/>
          </a:prstGeom>
          <a:solidFill>
            <a:srgbClr val="5A7A99"/>
          </a:solidFill>
          <a:ln/>
        </p:spPr>
      </p:sp>
      <p:sp>
        <p:nvSpPr>
          <p:cNvPr id="13" name="Shape 11"/>
          <p:cNvSpPr/>
          <p:nvPr/>
        </p:nvSpPr>
        <p:spPr>
          <a:xfrm>
            <a:off x="548640" y="3291840"/>
            <a:ext cx="1417320" cy="713232"/>
          </a:xfrm>
          <a:prstGeom prst="roundRect">
            <a:avLst>
              <a:gd name="adj" fmla="val 7692"/>
            </a:avLst>
          </a:prstGeom>
          <a:solidFill>
            <a:srgbClr val="1B3A5C"/>
          </a:solidFill>
          <a:ln/>
        </p:spPr>
      </p:sp>
      <p:sp>
        <p:nvSpPr>
          <p:cNvPr id="14" name="Text 12"/>
          <p:cNvSpPr/>
          <p:nvPr/>
        </p:nvSpPr>
        <p:spPr>
          <a:xfrm>
            <a:off x="548640" y="3291840"/>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2026/3-4</a:t>
            </a:r>
            <a:endParaRPr lang="en-US" sz="1300" dirty="0"/>
          </a:p>
        </p:txBody>
      </p:sp>
      <p:sp>
        <p:nvSpPr>
          <p:cNvPr id="15" name="Text 13"/>
          <p:cNvSpPr/>
          <p:nvPr/>
        </p:nvSpPr>
        <p:spPr>
          <a:xfrm>
            <a:off x="2194560" y="3310128"/>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有料化・説明会運用   </a:t>
            </a:r>
            <a:pPr indent="0" marL="0">
              <a:buNone/>
            </a:pPr>
            <a:r>
              <a:rPr lang="en-US" sz="1150" dirty="0">
                <a:solidFill>
                  <a:srgbClr val="374151"/>
                </a:solidFill>
                <a:latin typeface="Yu Gothic" pitchFamily="34" charset="0"/>
                <a:ea typeface="Yu Gothic" pitchFamily="34" charset="-122"/>
                <a:cs typeface="Yu Gothic" pitchFamily="34" charset="-120"/>
              </a:rPr>
              <a:t>Indeed有料化+ヤギオファー+ハローワーク強化。自社説明会(3/14・4/11)・ハロワ説明会(4/28)を実施</a:t>
            </a:r>
            <a:endParaRPr lang="en-US" sz="1350" dirty="0"/>
          </a:p>
        </p:txBody>
      </p:sp>
      <p:sp>
        <p:nvSpPr>
          <p:cNvPr id="16" name="Shape 14"/>
          <p:cNvSpPr/>
          <p:nvPr/>
        </p:nvSpPr>
        <p:spPr>
          <a:xfrm>
            <a:off x="1216152" y="4005072"/>
            <a:ext cx="32004" cy="146304"/>
          </a:xfrm>
          <a:prstGeom prst="rect">
            <a:avLst/>
          </a:prstGeom>
          <a:solidFill>
            <a:srgbClr val="5A7A99"/>
          </a:solidFill>
          <a:ln/>
        </p:spPr>
      </p:sp>
      <p:sp>
        <p:nvSpPr>
          <p:cNvPr id="17" name="Shape 15"/>
          <p:cNvSpPr/>
          <p:nvPr/>
        </p:nvSpPr>
        <p:spPr>
          <a:xfrm>
            <a:off x="548640" y="4151376"/>
            <a:ext cx="1417320" cy="713232"/>
          </a:xfrm>
          <a:prstGeom prst="roundRect">
            <a:avLst>
              <a:gd name="adj" fmla="val 7692"/>
            </a:avLst>
          </a:prstGeom>
          <a:solidFill>
            <a:srgbClr val="E8762C"/>
          </a:solidFill>
          <a:ln/>
        </p:spPr>
      </p:sp>
      <p:sp>
        <p:nvSpPr>
          <p:cNvPr id="18" name="Text 16"/>
          <p:cNvSpPr/>
          <p:nvPr/>
        </p:nvSpPr>
        <p:spPr>
          <a:xfrm>
            <a:off x="548640" y="4151376"/>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2026/4-5</a:t>
            </a:r>
            <a:endParaRPr lang="en-US" sz="1300" dirty="0"/>
          </a:p>
        </p:txBody>
      </p:sp>
      <p:sp>
        <p:nvSpPr>
          <p:cNvPr id="19" name="Text 17"/>
          <p:cNvSpPr/>
          <p:nvPr/>
        </p:nvSpPr>
        <p:spPr>
          <a:xfrm>
            <a:off x="2194560" y="4169664"/>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ターゲット・訴求転換   </a:t>
            </a:r>
            <a:pPr indent="0" marL="0">
              <a:buNone/>
            </a:pPr>
            <a:r>
              <a:rPr lang="en-US" sz="1150" dirty="0">
                <a:solidFill>
                  <a:srgbClr val="374151"/>
                </a:solidFill>
                <a:latin typeface="Yu Gothic" pitchFamily="34" charset="0"/>
                <a:ea typeface="Yu Gothic" pitchFamily="34" charset="-122"/>
                <a:cs typeface="Yu Gothic" pitchFamily="34" charset="-120"/>
              </a:rPr>
              <a:t>ペルソナを「オタク気質」層へ転換。「AIに代替されない技術」との2軸に絞り、求人を10件超へ細分化</a:t>
            </a:r>
            <a:endParaRPr lang="en-US" sz="1350" dirty="0"/>
          </a:p>
        </p:txBody>
      </p:sp>
      <p:sp>
        <p:nvSpPr>
          <p:cNvPr id="20" name="Shape 18"/>
          <p:cNvSpPr/>
          <p:nvPr/>
        </p:nvSpPr>
        <p:spPr>
          <a:xfrm>
            <a:off x="1216152" y="4864608"/>
            <a:ext cx="32004" cy="146304"/>
          </a:xfrm>
          <a:prstGeom prst="rect">
            <a:avLst/>
          </a:prstGeom>
          <a:solidFill>
            <a:srgbClr val="5A7A99"/>
          </a:solidFill>
          <a:ln/>
        </p:spPr>
      </p:sp>
      <p:sp>
        <p:nvSpPr>
          <p:cNvPr id="21" name="Shape 19"/>
          <p:cNvSpPr/>
          <p:nvPr/>
        </p:nvSpPr>
        <p:spPr>
          <a:xfrm>
            <a:off x="548640" y="5010912"/>
            <a:ext cx="1417320" cy="713232"/>
          </a:xfrm>
          <a:prstGeom prst="roundRect">
            <a:avLst>
              <a:gd name="adj" fmla="val 7692"/>
            </a:avLst>
          </a:prstGeom>
          <a:solidFill>
            <a:srgbClr val="1B3A5C"/>
          </a:solidFill>
          <a:ln/>
        </p:spPr>
      </p:sp>
      <p:sp>
        <p:nvSpPr>
          <p:cNvPr id="22" name="Text 20"/>
          <p:cNvSpPr/>
          <p:nvPr/>
        </p:nvSpPr>
        <p:spPr>
          <a:xfrm>
            <a:off x="548640" y="5010912"/>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2026/6</a:t>
            </a:r>
            <a:endParaRPr lang="en-US" sz="1300" dirty="0"/>
          </a:p>
        </p:txBody>
      </p:sp>
      <p:sp>
        <p:nvSpPr>
          <p:cNvPr id="23" name="Text 21"/>
          <p:cNvSpPr/>
          <p:nvPr/>
        </p:nvSpPr>
        <p:spPr>
          <a:xfrm>
            <a:off x="2194560" y="5029200"/>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Web広告・LP最適化   </a:t>
            </a:r>
            <a:pPr indent="0" marL="0">
              <a:buNone/>
            </a:pPr>
            <a:r>
              <a:rPr lang="en-US" sz="1150" dirty="0">
                <a:solidFill>
                  <a:srgbClr val="374151"/>
                </a:solidFill>
                <a:latin typeface="Yu Gothic" pitchFamily="34" charset="0"/>
                <a:ea typeface="Yu Gothic" pitchFamily="34" charset="-122"/>
                <a:cs typeface="Yu Gothic" pitchFamily="34" charset="-120"/>
              </a:rPr>
              <a:t>Meta広告(Instagram集中)・Googleリタゲ導入。LP超短縮・電話番号入力廃止。説明会をオンライン化</a:t>
            </a:r>
            <a:endParaRPr lang="en-US" sz="1350" dirty="0"/>
          </a:p>
        </p:txBody>
      </p:sp>
      <p:sp>
        <p:nvSpPr>
          <p:cNvPr id="24" name="Shape 22"/>
          <p:cNvSpPr/>
          <p:nvPr/>
        </p:nvSpPr>
        <p:spPr>
          <a:xfrm>
            <a:off x="1216152" y="5724144"/>
            <a:ext cx="32004" cy="146304"/>
          </a:xfrm>
          <a:prstGeom prst="rect">
            <a:avLst/>
          </a:prstGeom>
          <a:solidFill>
            <a:srgbClr val="5A7A99"/>
          </a:solidFill>
          <a:ln/>
        </p:spPr>
      </p:sp>
      <p:sp>
        <p:nvSpPr>
          <p:cNvPr id="25" name="Shape 23"/>
          <p:cNvSpPr/>
          <p:nvPr/>
        </p:nvSpPr>
        <p:spPr>
          <a:xfrm>
            <a:off x="548640" y="5870448"/>
            <a:ext cx="1417320" cy="713232"/>
          </a:xfrm>
          <a:prstGeom prst="roundRect">
            <a:avLst>
              <a:gd name="adj" fmla="val 7692"/>
            </a:avLst>
          </a:prstGeom>
          <a:solidFill>
            <a:srgbClr val="1B3A5C"/>
          </a:solidFill>
          <a:ln/>
        </p:spPr>
      </p:sp>
      <p:sp>
        <p:nvSpPr>
          <p:cNvPr id="26" name="Text 24"/>
          <p:cNvSpPr/>
          <p:nvPr/>
        </p:nvSpPr>
        <p:spPr>
          <a:xfrm>
            <a:off x="548640" y="587044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2026/7</a:t>
            </a:r>
            <a:endParaRPr lang="en-US" sz="1300" dirty="0"/>
          </a:p>
        </p:txBody>
      </p:sp>
      <p:sp>
        <p:nvSpPr>
          <p:cNvPr id="27" name="Text 25"/>
          <p:cNvSpPr/>
          <p:nvPr/>
        </p:nvSpPr>
        <p:spPr>
          <a:xfrm>
            <a:off x="2194560" y="588873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SNS展開・次の一手   </a:t>
            </a:r>
            <a:pPr indent="0" marL="0">
              <a:buNone/>
            </a:pPr>
            <a:r>
              <a:rPr lang="en-US" sz="1150" dirty="0">
                <a:solidFill>
                  <a:srgbClr val="374151"/>
                </a:solidFill>
                <a:latin typeface="Yu Gothic" pitchFamily="34" charset="0"/>
                <a:ea typeface="Yu Gothic" pitchFamily="34" charset="-122"/>
                <a:cs typeface="Yu Gothic" pitchFamily="34" charset="-120"/>
              </a:rPr>
              <a:t>キャッチコピーを尖鋭化しInstagram運用を開始。転職フェア・職人スカウト等の新チャネルを調査</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施策① 求人媒体の運用改善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無料掲載 → 有料化 → 職種細分化・予算グループ運用で露出を最大化</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05</a:t>
            </a:r>
            <a:endParaRPr lang="en-US" sz="1600" dirty="0"/>
          </a:p>
        </p:txBody>
      </p:sp>
      <p:graphicFrame>
        <p:nvGraphicFramePr>
          <p:cNvPr id="5" name="Chart 0" descr=""/>
          <p:cNvGraphicFramePr/>
          <p:nvPr/>
        </p:nvGraphicFramePr>
        <p:xfrm>
          <a:off x="548640" y="1645920"/>
          <a:ext cx="585216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48640" y="5074920"/>
            <a:ext cx="5852160" cy="64008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 6月にIndeed全求人が非掲載となるトラブルが発生しましたが、原因(アルゴリズム変更)を特定し1週間で復旧。媒体分散でリスクを回避しました。</a:t>
            </a:r>
            <a:endParaRPr lang="en-US" sz="1000" dirty="0"/>
          </a:p>
        </p:txBody>
      </p:sp>
      <p:sp>
        <p:nvSpPr>
          <p:cNvPr id="7" name="Text 4"/>
          <p:cNvSpPr/>
          <p:nvPr/>
        </p:nvSpPr>
        <p:spPr>
          <a:xfrm>
            <a:off x="6766560" y="1645920"/>
            <a:ext cx="4846320" cy="320040"/>
          </a:xfrm>
          <a:prstGeom prst="rect">
            <a:avLst/>
          </a:prstGeom>
          <a:noFill/>
          <a:ln/>
        </p:spPr>
        <p:txBody>
          <a:bodyPr wrap="square" lIns="0" tIns="0" rIns="0" bIns="0" rtlCol="0" anchor="ctr"/>
          <a:lstStyle/>
          <a:p>
            <a:pPr indent="0" marL="0">
              <a:buNone/>
            </a:pPr>
            <a:r>
              <a:rPr lang="en-US" sz="1300" b="1" dirty="0">
                <a:solidFill>
                  <a:srgbClr val="1B3A5C"/>
                </a:solidFill>
                <a:latin typeface="Yu Gothic" pitchFamily="34" charset="0"/>
                <a:ea typeface="Yu Gothic" pitchFamily="34" charset="-122"/>
                <a:cs typeface="Yu Gothic" pitchFamily="34" charset="-120"/>
              </a:rPr>
              <a:t>媒体別 累計実績(2026年3月〜8月上旬・有料課金分)</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66560" y="2057400"/>
          <a:ext cx="4846320" cy="914400"/>
        </p:xfrm>
        <a:graphic>
          <a:graphicData uri="http://schemas.openxmlformats.org/drawingml/2006/table">
            <a:tbl>
              <a:tblPr/>
              <a:tblGrid>
                <a:gridCol w="1234440"/>
                <a:gridCol w="960120"/>
                <a:gridCol w="777240"/>
                <a:gridCol w="640080"/>
                <a:gridCol w="502920"/>
                <a:gridCol w="731520"/>
              </a:tblGrid>
              <a:tr h="38404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媒体</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表示回数</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クリック</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CTR</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応募</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費用</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Indeed</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12,064</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792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6.6%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¥153,496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求人BOX</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16,136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755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4.7%</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¥50,945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ヤギオファー</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スカウト型</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月¥10,000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engage</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PV 1,031</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AirWork 他</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9" name="Shape 5"/>
          <p:cNvSpPr/>
          <p:nvPr/>
        </p:nvSpPr>
        <p:spPr>
          <a:xfrm>
            <a:off x="6766560" y="4617720"/>
            <a:ext cx="4846320" cy="1051560"/>
          </a:xfrm>
          <a:prstGeom prst="roundRect">
            <a:avLst>
              <a:gd name="adj" fmla="val 6957"/>
            </a:avLst>
          </a:prstGeom>
          <a:solidFill>
            <a:srgbClr val="F2F6FA"/>
          </a:solidFill>
          <a:ln/>
        </p:spPr>
      </p:sp>
      <p:sp>
        <p:nvSpPr>
          <p:cNvPr id="10" name="Text 6"/>
          <p:cNvSpPr/>
          <p:nvPr/>
        </p:nvSpPr>
        <p:spPr>
          <a:xfrm>
            <a:off x="6949440" y="4754880"/>
            <a:ext cx="4526280" cy="82296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ハローワークも総合強化: </a:t>
            </a:r>
            <a:pPr indent="0" marL="0">
              <a:buNone/>
            </a:pPr>
            <a:r>
              <a:rPr lang="en-US" sz="1100" dirty="0">
                <a:solidFill>
                  <a:srgbClr val="374151"/>
                </a:solidFill>
                <a:latin typeface="Yu Gothic" pitchFamily="34" charset="0"/>
                <a:ea typeface="Yu Gothic" pitchFamily="34" charset="-122"/>
                <a:cs typeface="Yu Gothic" pitchFamily="34" charset="-120"/>
              </a:rPr>
              <a:t>写真10枚掲載・PRシート提出・給与表記を月28万円〜に統一・年齢×受付日基準のリクエスト(スカウト)送信を継続実施。</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施策② ターゲット・訴求の転換</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検証データに基づき、富山の採用競争で独自のポジションを確立</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06</a:t>
            </a:r>
            <a:endParaRPr lang="en-US" sz="1600" dirty="0"/>
          </a:p>
        </p:txBody>
      </p:sp>
      <p:sp>
        <p:nvSpPr>
          <p:cNvPr id="5" name="Shape 3"/>
          <p:cNvSpPr/>
          <p:nvPr/>
        </p:nvSpPr>
        <p:spPr>
          <a:xfrm>
            <a:off x="548640" y="1600200"/>
            <a:ext cx="5029200" cy="1371600"/>
          </a:xfrm>
          <a:prstGeom prst="roundRect">
            <a:avLst>
              <a:gd name="adj" fmla="val 5333"/>
            </a:avLst>
          </a:prstGeom>
          <a:solidFill>
            <a:srgbClr val="F2F6FA"/>
          </a:solidFill>
          <a:ln/>
        </p:spPr>
      </p:sp>
      <p:sp>
        <p:nvSpPr>
          <p:cNvPr id="6" name="Text 4"/>
          <p:cNvSpPr/>
          <p:nvPr/>
        </p:nvSpPr>
        <p:spPr>
          <a:xfrm>
            <a:off x="777240" y="1737360"/>
            <a:ext cx="1828800" cy="274320"/>
          </a:xfrm>
          <a:prstGeom prst="rect">
            <a:avLst/>
          </a:prstGeom>
          <a:noFill/>
          <a:ln/>
        </p:spPr>
        <p:txBody>
          <a:bodyPr wrap="square" lIns="0" tIns="0" rIns="0" bIns="0" rtlCol="0" anchor="ctr"/>
          <a:lstStyle/>
          <a:p>
            <a:pPr indent="0" marL="0">
              <a:buNone/>
            </a:pPr>
            <a:r>
              <a:rPr lang="en-US" sz="1100" b="1" dirty="0">
                <a:solidFill>
                  <a:srgbClr val="6B7280"/>
                </a:solidFill>
                <a:latin typeface="Yu Gothic" pitchFamily="34" charset="0"/>
                <a:ea typeface="Yu Gothic" pitchFamily="34" charset="-122"/>
                <a:cs typeface="Yu Gothic" pitchFamily="34" charset="-120"/>
              </a:rPr>
              <a:t>従来</a:t>
            </a:r>
            <a:endParaRPr lang="en-US" sz="1100" dirty="0"/>
          </a:p>
        </p:txBody>
      </p:sp>
      <p:sp>
        <p:nvSpPr>
          <p:cNvPr id="7" name="Text 5"/>
          <p:cNvSpPr/>
          <p:nvPr/>
        </p:nvSpPr>
        <p:spPr>
          <a:xfrm>
            <a:off x="777240" y="2011680"/>
            <a:ext cx="4572000" cy="868680"/>
          </a:xfrm>
          <a:prstGeom prst="rect">
            <a:avLst/>
          </a:prstGeom>
          <a:noFill/>
          <a:ln/>
        </p:spPr>
        <p:txBody>
          <a:bodyPr wrap="square" lIns="0" tIns="0" rIns="0" bIns="0" rtlCol="0" anchor="ctr"/>
          <a:lstStyle/>
          <a:p>
            <a:pPr indent="0" marL="0">
              <a:buNone/>
            </a:pPr>
            <a:r>
              <a:rPr lang="en-US" sz="1200" dirty="0">
                <a:solidFill>
                  <a:srgbClr val="374151"/>
                </a:solidFill>
                <a:latin typeface="Yu Gothic" pitchFamily="34" charset="0"/>
                <a:ea typeface="Yu Gothic" pitchFamily="34" charset="-122"/>
                <a:cs typeface="Yu Gothic" pitchFamily="34" charset="-120"/>
              </a:rPr>
              <a:t>一般的な若手向け求人(ガテン系・「アットホーム」訴求)</a:t>
            </a:r>
            <a:endParaRPr lang="en-US" sz="1200" dirty="0"/>
          </a:p>
          <a:p>
            <a:pPr indent="0" marL="0">
              <a:buNone/>
            </a:pPr>
            <a:r>
              <a:rPr lang="en-US" sz="1200" dirty="0">
                <a:solidFill>
                  <a:srgbClr val="374151"/>
                </a:solidFill>
                <a:latin typeface="Yu Gothic" pitchFamily="34" charset="0"/>
                <a:ea typeface="Yu Gothic" pitchFamily="34" charset="-122"/>
                <a:cs typeface="Yu Gothic" pitchFamily="34" charset="-120"/>
              </a:rPr>
              <a:t>→ 若手に刺さらず、50代経験者層にのみ反応</a:t>
            </a:r>
            <a:endParaRPr lang="en-US" sz="1200" dirty="0"/>
          </a:p>
        </p:txBody>
      </p:sp>
      <p:sp>
        <p:nvSpPr>
          <p:cNvPr id="8" name="Shape 6"/>
          <p:cNvSpPr/>
          <p:nvPr/>
        </p:nvSpPr>
        <p:spPr>
          <a:xfrm>
            <a:off x="6583680" y="1600200"/>
            <a:ext cx="5029200" cy="1371600"/>
          </a:xfrm>
          <a:prstGeom prst="roundRect">
            <a:avLst>
              <a:gd name="adj" fmla="val 5333"/>
            </a:avLst>
          </a:prstGeom>
          <a:solidFill>
            <a:srgbClr val="1B3A5C"/>
          </a:solidFill>
          <a:ln/>
        </p:spPr>
      </p:sp>
      <p:sp>
        <p:nvSpPr>
          <p:cNvPr id="9" name="Text 7"/>
          <p:cNvSpPr/>
          <p:nvPr/>
        </p:nvSpPr>
        <p:spPr>
          <a:xfrm>
            <a:off x="6812280" y="1737360"/>
            <a:ext cx="2743200" cy="274320"/>
          </a:xfrm>
          <a:prstGeom prst="rect">
            <a:avLst/>
          </a:prstGeom>
          <a:noFill/>
          <a:ln/>
        </p:spPr>
        <p:txBody>
          <a:bodyPr wrap="square" lIns="0" tIns="0" rIns="0" bIns="0" rtlCol="0" anchor="ctr"/>
          <a:lstStyle/>
          <a:p>
            <a:pPr indent="0" marL="0">
              <a:buNone/>
            </a:pPr>
            <a:r>
              <a:rPr lang="en-US" sz="1100" b="1" dirty="0">
                <a:solidFill>
                  <a:srgbClr val="E8762C"/>
                </a:solidFill>
                <a:latin typeface="Yu Gothic" pitchFamily="34" charset="0"/>
                <a:ea typeface="Yu Gothic" pitchFamily="34" charset="-122"/>
                <a:cs typeface="Yu Gothic" pitchFamily="34" charset="-120"/>
              </a:rPr>
              <a:t>転換後(2026年4月〜)</a:t>
            </a:r>
            <a:endParaRPr lang="en-US" sz="1100" dirty="0"/>
          </a:p>
        </p:txBody>
      </p:sp>
      <p:sp>
        <p:nvSpPr>
          <p:cNvPr id="10" name="Text 8"/>
          <p:cNvSpPr/>
          <p:nvPr/>
        </p:nvSpPr>
        <p:spPr>
          <a:xfrm>
            <a:off x="6812280" y="2011680"/>
            <a:ext cx="4572000" cy="868680"/>
          </a:xfrm>
          <a:prstGeom prst="rect">
            <a:avLst/>
          </a:prstGeom>
          <a:noFill/>
          <a:ln/>
        </p:spPr>
        <p:txBody>
          <a:bodyPr wrap="square" lIns="0" tIns="0" rIns="0" bIns="0" rtlCol="0" anchor="ctr"/>
          <a:lstStyle/>
          <a:p>
            <a:pPr indent="0" marL="0">
              <a:buNone/>
            </a:pPr>
            <a:r>
              <a:rPr lang="en-US" sz="1200" dirty="0">
                <a:solidFill>
                  <a:srgbClr val="CADCFC"/>
                </a:solidFill>
                <a:latin typeface="Yu Gothic" pitchFamily="34" charset="0"/>
                <a:ea typeface="Yu Gothic" pitchFamily="34" charset="-122"/>
                <a:cs typeface="Yu Gothic" pitchFamily="34" charset="-120"/>
              </a:rPr>
              <a:t>ペルソナ=「オタク気質・マニア」層 × 「AIに代替されない技術」</a:t>
            </a:r>
            <a:endParaRPr lang="en-US" sz="1200" dirty="0"/>
          </a:p>
          <a:p>
            <a:pPr indent="0" marL="0">
              <a:buNone/>
            </a:pPr>
            <a:r>
              <a:rPr lang="en-US" sz="1200" b="1" dirty="0">
                <a:solidFill>
                  <a:srgbClr val="FFFFFF"/>
                </a:solidFill>
                <a:latin typeface="Yu Gothic" pitchFamily="34" charset="0"/>
                <a:ea typeface="Yu Gothic" pitchFamily="34" charset="-122"/>
                <a:cs typeface="Yu Gothic" pitchFamily="34" charset="-120"/>
              </a:rPr>
              <a:t>→ 結果: 応募者の67%(12名中8名)が20〜30代に</a:t>
            </a:r>
            <a:endParaRPr lang="en-US" sz="1200" dirty="0"/>
          </a:p>
        </p:txBody>
      </p:sp>
      <p:sp>
        <p:nvSpPr>
          <p:cNvPr id="11" name="Shape 9"/>
          <p:cNvSpPr/>
          <p:nvPr/>
        </p:nvSpPr>
        <p:spPr>
          <a:xfrm>
            <a:off x="5715000" y="2084832"/>
            <a:ext cx="731520" cy="411480"/>
          </a:xfrm>
          <a:prstGeom prst="rightArrow">
            <a:avLst/>
          </a:prstGeom>
          <a:solidFill>
            <a:srgbClr val="E8762C"/>
          </a:solidFill>
          <a:ln/>
        </p:spPr>
      </p:sp>
      <p:sp>
        <p:nvSpPr>
          <p:cNvPr id="12" name="Text 10"/>
          <p:cNvSpPr/>
          <p:nvPr/>
        </p:nvSpPr>
        <p:spPr>
          <a:xfrm>
            <a:off x="548640" y="3291840"/>
            <a:ext cx="7315200" cy="32004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訴求パターン検証の結果(Indeed CTR・2026年4月末)</a:t>
            </a:r>
            <a:endParaRPr lang="en-US" sz="1400" dirty="0"/>
          </a:p>
        </p:txBody>
      </p:sp>
      <p:sp>
        <p:nvSpPr>
          <p:cNvPr id="13" name="Text 11"/>
          <p:cNvSpPr/>
          <p:nvPr/>
        </p:nvSpPr>
        <p:spPr>
          <a:xfrm>
            <a:off x="548640" y="3749040"/>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オタク気質訴求</a:t>
            </a:r>
            <a:endParaRPr lang="en-US" sz="1150" dirty="0"/>
          </a:p>
        </p:txBody>
      </p:sp>
      <p:sp>
        <p:nvSpPr>
          <p:cNvPr id="14" name="Shape 12"/>
          <p:cNvSpPr/>
          <p:nvPr/>
        </p:nvSpPr>
        <p:spPr>
          <a:xfrm>
            <a:off x="2377440" y="3794760"/>
            <a:ext cx="4055633" cy="274320"/>
          </a:xfrm>
          <a:prstGeom prst="roundRect">
            <a:avLst>
              <a:gd name="adj" fmla="val 13333"/>
            </a:avLst>
          </a:prstGeom>
          <a:solidFill>
            <a:srgbClr val="E8762C"/>
          </a:solidFill>
          <a:ln/>
        </p:spPr>
      </p:sp>
      <p:sp>
        <p:nvSpPr>
          <p:cNvPr id="15" name="Text 13"/>
          <p:cNvSpPr/>
          <p:nvPr/>
        </p:nvSpPr>
        <p:spPr>
          <a:xfrm>
            <a:off x="6478793" y="3749040"/>
            <a:ext cx="1097280" cy="365760"/>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CTR 14.5%</a:t>
            </a:r>
            <a:endParaRPr lang="en-US" sz="1050" dirty="0"/>
          </a:p>
        </p:txBody>
      </p:sp>
      <p:sp>
        <p:nvSpPr>
          <p:cNvPr id="16" name="Text 14"/>
          <p:cNvSpPr/>
          <p:nvPr/>
        </p:nvSpPr>
        <p:spPr>
          <a:xfrm>
            <a:off x="8229600" y="3749040"/>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最も相性が良い</a:t>
            </a:r>
            <a:endParaRPr lang="en-US" sz="1050" dirty="0"/>
          </a:p>
        </p:txBody>
      </p:sp>
      <p:sp>
        <p:nvSpPr>
          <p:cNvPr id="17" name="Text 15"/>
          <p:cNvSpPr/>
          <p:nvPr/>
        </p:nvSpPr>
        <p:spPr>
          <a:xfrm>
            <a:off x="548640" y="4224528"/>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経験者向け</a:t>
            </a:r>
            <a:endParaRPr lang="en-US" sz="1150" dirty="0"/>
          </a:p>
        </p:txBody>
      </p:sp>
      <p:sp>
        <p:nvSpPr>
          <p:cNvPr id="18" name="Shape 16"/>
          <p:cNvSpPr/>
          <p:nvPr/>
        </p:nvSpPr>
        <p:spPr>
          <a:xfrm>
            <a:off x="2377440" y="4270248"/>
            <a:ext cx="4670970" cy="274320"/>
          </a:xfrm>
          <a:prstGeom prst="roundRect">
            <a:avLst>
              <a:gd name="adj" fmla="val 13333"/>
            </a:avLst>
          </a:prstGeom>
          <a:solidFill>
            <a:srgbClr val="5A7A99"/>
          </a:solidFill>
          <a:ln/>
        </p:spPr>
      </p:sp>
      <p:sp>
        <p:nvSpPr>
          <p:cNvPr id="19" name="Text 17"/>
          <p:cNvSpPr/>
          <p:nvPr/>
        </p:nvSpPr>
        <p:spPr>
          <a:xfrm>
            <a:off x="7094130" y="4224528"/>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16.7%</a:t>
            </a:r>
            <a:endParaRPr lang="en-US" sz="1050" dirty="0"/>
          </a:p>
        </p:txBody>
      </p:sp>
      <p:sp>
        <p:nvSpPr>
          <p:cNvPr id="20" name="Text 18"/>
          <p:cNvSpPr/>
          <p:nvPr/>
        </p:nvSpPr>
        <p:spPr>
          <a:xfrm>
            <a:off x="8229600" y="4224528"/>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表示は伸びるが応募に繋がらず</a:t>
            </a:r>
            <a:endParaRPr lang="en-US" sz="1050" dirty="0"/>
          </a:p>
        </p:txBody>
      </p:sp>
      <p:sp>
        <p:nvSpPr>
          <p:cNvPr id="21" name="Text 19"/>
          <p:cNvSpPr/>
          <p:nvPr/>
        </p:nvSpPr>
        <p:spPr>
          <a:xfrm>
            <a:off x="548640" y="4700016"/>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AI訴求</a:t>
            </a:r>
            <a:endParaRPr lang="en-US" sz="1150" dirty="0"/>
          </a:p>
        </p:txBody>
      </p:sp>
      <p:sp>
        <p:nvSpPr>
          <p:cNvPr id="22" name="Shape 20"/>
          <p:cNvSpPr/>
          <p:nvPr/>
        </p:nvSpPr>
        <p:spPr>
          <a:xfrm>
            <a:off x="2377440" y="4745736"/>
            <a:ext cx="2181651" cy="274320"/>
          </a:xfrm>
          <a:prstGeom prst="roundRect">
            <a:avLst>
              <a:gd name="adj" fmla="val 13333"/>
            </a:avLst>
          </a:prstGeom>
          <a:solidFill>
            <a:srgbClr val="1B3A5C"/>
          </a:solidFill>
          <a:ln/>
        </p:spPr>
      </p:sp>
      <p:sp>
        <p:nvSpPr>
          <p:cNvPr id="23" name="Text 21"/>
          <p:cNvSpPr/>
          <p:nvPr/>
        </p:nvSpPr>
        <p:spPr>
          <a:xfrm>
            <a:off x="4604811" y="4700016"/>
            <a:ext cx="1097280" cy="365760"/>
          </a:xfrm>
          <a:prstGeom prst="rect">
            <a:avLst/>
          </a:prstGeom>
          <a:noFill/>
          <a:ln/>
        </p:spPr>
        <p:txBody>
          <a:bodyPr wrap="square" lIns="0" tIns="0" rIns="0" bIns="0" rtlCol="0" anchor="ctr"/>
          <a:lstStyle/>
          <a:p>
            <a:pPr indent="0" marL="0">
              <a:buNone/>
            </a:pPr>
            <a:r>
              <a:rPr lang="en-US" sz="1050" b="1" dirty="0">
                <a:solidFill>
                  <a:srgbClr val="1B3A5C"/>
                </a:solidFill>
                <a:latin typeface="Yu Gothic" pitchFamily="34" charset="0"/>
                <a:ea typeface="Yu Gothic" pitchFamily="34" charset="-122"/>
                <a:cs typeface="Yu Gothic" pitchFamily="34" charset="-120"/>
              </a:rPr>
              <a:t>CTR 7.8%</a:t>
            </a:r>
            <a:endParaRPr lang="en-US" sz="1050" dirty="0"/>
          </a:p>
        </p:txBody>
      </p:sp>
      <p:sp>
        <p:nvSpPr>
          <p:cNvPr id="24" name="Text 22"/>
          <p:cNvSpPr/>
          <p:nvPr/>
        </p:nvSpPr>
        <p:spPr>
          <a:xfrm>
            <a:off x="8229600" y="4700016"/>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CPC¥12〜20と安価で効率的</a:t>
            </a:r>
            <a:endParaRPr lang="en-US" sz="1050" dirty="0"/>
          </a:p>
        </p:txBody>
      </p:sp>
      <p:sp>
        <p:nvSpPr>
          <p:cNvPr id="25" name="Text 23"/>
          <p:cNvSpPr/>
          <p:nvPr/>
        </p:nvSpPr>
        <p:spPr>
          <a:xfrm>
            <a:off x="548640" y="5175504"/>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健康訴求</a:t>
            </a:r>
            <a:endParaRPr lang="en-US" sz="1150" dirty="0"/>
          </a:p>
        </p:txBody>
      </p:sp>
      <p:sp>
        <p:nvSpPr>
          <p:cNvPr id="26" name="Shape 24"/>
          <p:cNvSpPr/>
          <p:nvPr/>
        </p:nvSpPr>
        <p:spPr>
          <a:xfrm>
            <a:off x="2377440" y="5221224"/>
            <a:ext cx="2377440" cy="274320"/>
          </a:xfrm>
          <a:prstGeom prst="roundRect">
            <a:avLst>
              <a:gd name="adj" fmla="val 13333"/>
            </a:avLst>
          </a:prstGeom>
          <a:solidFill>
            <a:srgbClr val="5A7A99"/>
          </a:solidFill>
          <a:ln/>
        </p:spPr>
      </p:sp>
      <p:sp>
        <p:nvSpPr>
          <p:cNvPr id="27" name="Text 25"/>
          <p:cNvSpPr/>
          <p:nvPr/>
        </p:nvSpPr>
        <p:spPr>
          <a:xfrm>
            <a:off x="4800600" y="5175504"/>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8.5%</a:t>
            </a:r>
            <a:endParaRPr lang="en-US" sz="1050" dirty="0"/>
          </a:p>
        </p:txBody>
      </p:sp>
      <p:sp>
        <p:nvSpPr>
          <p:cNvPr id="28" name="Text 26"/>
          <p:cNvSpPr/>
          <p:nvPr/>
        </p:nvSpPr>
        <p:spPr>
          <a:xfrm>
            <a:off x="8229600" y="5175504"/>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単独では弱く要素として統合</a:t>
            </a:r>
            <a:endParaRPr lang="en-US" sz="1050" dirty="0"/>
          </a:p>
        </p:txBody>
      </p:sp>
      <p:sp>
        <p:nvSpPr>
          <p:cNvPr id="29" name="Shape 27"/>
          <p:cNvSpPr/>
          <p:nvPr/>
        </p:nvSpPr>
        <p:spPr>
          <a:xfrm>
            <a:off x="548640" y="5806440"/>
            <a:ext cx="11109960" cy="658368"/>
          </a:xfrm>
          <a:prstGeom prst="roundRect">
            <a:avLst>
              <a:gd name="adj" fmla="val 11111"/>
            </a:avLst>
          </a:prstGeom>
          <a:solidFill>
            <a:srgbClr val="F2F6FA"/>
          </a:solidFill>
          <a:ln/>
        </p:spPr>
      </p:sp>
      <p:sp>
        <p:nvSpPr>
          <p:cNvPr id="30" name="Text 28"/>
          <p:cNvSpPr/>
          <p:nvPr/>
        </p:nvSpPr>
        <p:spPr>
          <a:xfrm>
            <a:off x="731520" y="5888736"/>
            <a:ext cx="10789920" cy="548640"/>
          </a:xfrm>
          <a:prstGeom prst="rect">
            <a:avLst/>
          </a:prstGeom>
          <a:noFill/>
          <a:ln/>
        </p:spPr>
        <p:txBody>
          <a:bodyPr wrap="square" lIns="0" tIns="0" rIns="0" bIns="0" rtlCol="0" anchor="ctr"/>
          <a:lstStyle/>
          <a:p>
            <a:pPr indent="0" marL="0">
              <a:buNone/>
            </a:pPr>
            <a:r>
              <a:rPr lang="en-US" sz="1100" b="1" dirty="0">
                <a:solidFill>
                  <a:srgbClr val="1B3A5C"/>
                </a:solidFill>
                <a:latin typeface="Yu Gothic" pitchFamily="34" charset="0"/>
                <a:ea typeface="Yu Gothic" pitchFamily="34" charset="-122"/>
                <a:cs typeface="Yu Gothic" pitchFamily="34" charset="-120"/>
              </a:rPr>
              <a:t>キャッチコピーの進化: </a:t>
            </a:r>
            <a:pPr indent="0" marL="0">
              <a:buNone/>
            </a:pPr>
            <a:r>
              <a:rPr lang="en-US" sz="1100" dirty="0">
                <a:solidFill>
                  <a:srgbClr val="374151"/>
                </a:solidFill>
                <a:latin typeface="Yu Gothic" pitchFamily="34" charset="0"/>
                <a:ea typeface="Yu Gothic" pitchFamily="34" charset="-122"/>
                <a:cs typeface="Yu Gothic" pitchFamily="34" charset="-120"/>
              </a:rPr>
              <a:t>「その仕事、10年後もありますか?」→「マニアック上等!」「AIごときにはできません!」へ尖鋭化(7月)。求人も職種細分化で10件超に拡大し、CTRの良い求人へ予算を集中。</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施策③ 説明会による応募ハードルの引き下げ</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「いきなり応募」ではなく「まず話を聞く」導線を設計・改善</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07</a:t>
            </a:r>
            <a:endParaRPr lang="en-US" sz="1600" dirty="0"/>
          </a:p>
        </p:txBody>
      </p:sp>
      <p:sp>
        <p:nvSpPr>
          <p:cNvPr id="5" name="Shape 3"/>
          <p:cNvSpPr/>
          <p:nvPr/>
        </p:nvSpPr>
        <p:spPr>
          <a:xfrm>
            <a:off x="548640" y="1691640"/>
            <a:ext cx="3520440" cy="2834640"/>
          </a:xfrm>
          <a:prstGeom prst="roundRect">
            <a:avLst>
              <a:gd name="adj" fmla="val 3226"/>
            </a:avLst>
          </a:prstGeom>
          <a:solidFill>
            <a:srgbClr val="F2F6FA"/>
          </a:solidFill>
          <a:ln/>
        </p:spPr>
      </p:sp>
      <p:sp>
        <p:nvSpPr>
          <p:cNvPr id="6" name="Shape 4"/>
          <p:cNvSpPr/>
          <p:nvPr/>
        </p:nvSpPr>
        <p:spPr>
          <a:xfrm>
            <a:off x="777240" y="1920240"/>
            <a:ext cx="384048" cy="384048"/>
          </a:xfrm>
          <a:prstGeom prst="ellipse">
            <a:avLst/>
          </a:prstGeom>
          <a:solidFill>
            <a:srgbClr val="1B3A5C"/>
          </a:solidFill>
          <a:ln/>
        </p:spPr>
      </p:sp>
      <p:sp>
        <p:nvSpPr>
          <p:cNvPr id="7" name="Text 5"/>
          <p:cNvSpPr/>
          <p:nvPr/>
        </p:nvSpPr>
        <p:spPr>
          <a:xfrm>
            <a:off x="77724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28016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対面説明会</a:t>
            </a:r>
            <a:endParaRPr lang="en-US" sz="1500" dirty="0"/>
          </a:p>
        </p:txBody>
      </p:sp>
      <p:sp>
        <p:nvSpPr>
          <p:cNvPr id="9" name="Text 7"/>
          <p:cNvSpPr/>
          <p:nvPr/>
        </p:nvSpPr>
        <p:spPr>
          <a:xfrm>
            <a:off x="80467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2/28企画 → 3/14・4/11開催</a:t>
            </a:r>
            <a:endParaRPr lang="en-US" sz="1150" dirty="0"/>
          </a:p>
        </p:txBody>
      </p:sp>
      <p:sp>
        <p:nvSpPr>
          <p:cNvPr id="10" name="Text 8"/>
          <p:cNvSpPr/>
          <p:nvPr/>
        </p:nvSpPr>
        <p:spPr>
          <a:xfrm>
            <a:off x="80467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私服OK・履歴書不要・現場見学・当日面接可。会社説明資料・アンケート・運営フローを整備</a:t>
            </a:r>
            <a:endParaRPr lang="en-US" sz="1100" dirty="0"/>
          </a:p>
        </p:txBody>
      </p:sp>
      <p:sp>
        <p:nvSpPr>
          <p:cNvPr id="11" name="Shape 9"/>
          <p:cNvSpPr/>
          <p:nvPr/>
        </p:nvSpPr>
        <p:spPr>
          <a:xfrm>
            <a:off x="4114800" y="2880360"/>
            <a:ext cx="457200" cy="365760"/>
          </a:xfrm>
          <a:prstGeom prst="rightArrow">
            <a:avLst/>
          </a:prstGeom>
          <a:solidFill>
            <a:srgbClr val="5A7A99"/>
          </a:solidFill>
          <a:ln/>
        </p:spPr>
      </p:sp>
      <p:sp>
        <p:nvSpPr>
          <p:cNvPr id="12" name="Shape 10"/>
          <p:cNvSpPr/>
          <p:nvPr/>
        </p:nvSpPr>
        <p:spPr>
          <a:xfrm>
            <a:off x="4526280" y="1691640"/>
            <a:ext cx="3520440" cy="2834640"/>
          </a:xfrm>
          <a:prstGeom prst="roundRect">
            <a:avLst>
              <a:gd name="adj" fmla="val 3226"/>
            </a:avLst>
          </a:prstGeom>
          <a:solidFill>
            <a:srgbClr val="F2F6FA"/>
          </a:solidFill>
          <a:ln/>
        </p:spPr>
      </p:sp>
      <p:sp>
        <p:nvSpPr>
          <p:cNvPr id="13" name="Shape 11"/>
          <p:cNvSpPr/>
          <p:nvPr/>
        </p:nvSpPr>
        <p:spPr>
          <a:xfrm>
            <a:off x="4754880" y="1920240"/>
            <a:ext cx="384048" cy="384048"/>
          </a:xfrm>
          <a:prstGeom prst="ellipse">
            <a:avLst/>
          </a:prstGeom>
          <a:solidFill>
            <a:srgbClr val="1B3A5C"/>
          </a:solidFill>
          <a:ln/>
        </p:spPr>
      </p:sp>
      <p:sp>
        <p:nvSpPr>
          <p:cNvPr id="14" name="Text 12"/>
          <p:cNvSpPr/>
          <p:nvPr/>
        </p:nvSpPr>
        <p:spPr>
          <a:xfrm>
            <a:off x="475488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25780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ハローワーク説明会</a:t>
            </a:r>
            <a:endParaRPr lang="en-US" sz="1500" dirty="0"/>
          </a:p>
        </p:txBody>
      </p:sp>
      <p:sp>
        <p:nvSpPr>
          <p:cNvPr id="16" name="Text 14"/>
          <p:cNvSpPr/>
          <p:nvPr/>
        </p:nvSpPr>
        <p:spPr>
          <a:xfrm>
            <a:off x="478231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4/28 参加(2名来場)</a:t>
            </a:r>
            <a:endParaRPr lang="en-US" sz="1150" dirty="0"/>
          </a:p>
        </p:txBody>
      </p:sp>
      <p:sp>
        <p:nvSpPr>
          <p:cNvPr id="17" name="Text 15"/>
          <p:cNvSpPr/>
          <p:nvPr/>
        </p:nvSpPr>
        <p:spPr>
          <a:xfrm>
            <a:off x="478231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PRシート・写真10枚・お任せマッチング等、ハローワークの機能をフル活用。次回は8/28以降で予約</a:t>
            </a:r>
            <a:endParaRPr lang="en-US" sz="1100" dirty="0"/>
          </a:p>
        </p:txBody>
      </p:sp>
      <p:sp>
        <p:nvSpPr>
          <p:cNvPr id="18" name="Shape 16"/>
          <p:cNvSpPr/>
          <p:nvPr/>
        </p:nvSpPr>
        <p:spPr>
          <a:xfrm>
            <a:off x="8092440" y="2880360"/>
            <a:ext cx="457200" cy="365760"/>
          </a:xfrm>
          <a:prstGeom prst="rightArrow">
            <a:avLst/>
          </a:prstGeom>
          <a:solidFill>
            <a:srgbClr val="5A7A99"/>
          </a:solidFill>
          <a:ln/>
        </p:spPr>
      </p:sp>
      <p:sp>
        <p:nvSpPr>
          <p:cNvPr id="19" name="Shape 17"/>
          <p:cNvSpPr/>
          <p:nvPr/>
        </p:nvSpPr>
        <p:spPr>
          <a:xfrm>
            <a:off x="8503920" y="1691640"/>
            <a:ext cx="3520440" cy="2834640"/>
          </a:xfrm>
          <a:prstGeom prst="roundRect">
            <a:avLst>
              <a:gd name="adj" fmla="val 3226"/>
            </a:avLst>
          </a:prstGeom>
          <a:solidFill>
            <a:srgbClr val="1B3A5C"/>
          </a:solidFill>
          <a:ln/>
        </p:spPr>
      </p:sp>
      <p:sp>
        <p:nvSpPr>
          <p:cNvPr id="20" name="Shape 18"/>
          <p:cNvSpPr/>
          <p:nvPr/>
        </p:nvSpPr>
        <p:spPr>
          <a:xfrm>
            <a:off x="8732520" y="1920240"/>
            <a:ext cx="384048" cy="384048"/>
          </a:xfrm>
          <a:prstGeom prst="ellipse">
            <a:avLst/>
          </a:prstGeom>
          <a:solidFill>
            <a:srgbClr val="E8762C"/>
          </a:solidFill>
          <a:ln/>
        </p:spPr>
      </p:sp>
      <p:sp>
        <p:nvSpPr>
          <p:cNvPr id="21" name="Text 19"/>
          <p:cNvSpPr/>
          <p:nvPr/>
        </p:nvSpPr>
        <p:spPr>
          <a:xfrm>
            <a:off x="873252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9235440" y="1901952"/>
            <a:ext cx="2743200" cy="411480"/>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オンライン説明会</a:t>
            </a:r>
            <a:endParaRPr lang="en-US" sz="1500" dirty="0"/>
          </a:p>
        </p:txBody>
      </p:sp>
      <p:sp>
        <p:nvSpPr>
          <p:cNvPr id="23" name="Text 21"/>
          <p:cNvSpPr/>
          <p:nvPr/>
        </p:nvSpPr>
        <p:spPr>
          <a:xfrm>
            <a:off x="8759952" y="2487168"/>
            <a:ext cx="3017520" cy="320040"/>
          </a:xfrm>
          <a:prstGeom prst="rect">
            <a:avLst/>
          </a:prstGeom>
          <a:noFill/>
          <a:ln/>
        </p:spPr>
        <p:txBody>
          <a:bodyPr wrap="square" lIns="0" tIns="0" rIns="0" bIns="0" rtlCol="0" anchor="ctr"/>
          <a:lstStyle/>
          <a:p>
            <a:pPr indent="0" marL="0">
              <a:buNone/>
            </a:pPr>
            <a:r>
              <a:rPr lang="en-US" sz="1150" b="1" dirty="0">
                <a:solidFill>
                  <a:srgbClr val="E8762C"/>
                </a:solidFill>
                <a:latin typeface="Yu Gothic" pitchFamily="34" charset="0"/>
                <a:ea typeface="Yu Gothic" pitchFamily="34" charset="-122"/>
                <a:cs typeface="Yu Gothic" pitchFamily="34" charset="-120"/>
              </a:rPr>
              <a:t>7月〜 毎週木曜夜</a:t>
            </a:r>
            <a:endParaRPr lang="en-US" sz="1150" dirty="0"/>
          </a:p>
        </p:txBody>
      </p:sp>
      <p:sp>
        <p:nvSpPr>
          <p:cNvPr id="24" name="Text 22"/>
          <p:cNvSpPr/>
          <p:nvPr/>
        </p:nvSpPr>
        <p:spPr>
          <a:xfrm>
            <a:off x="8759952" y="2852928"/>
            <a:ext cx="3017520" cy="155448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顔出し不要・45分・Google Meet・予約制。在職中の若手が参加しやすい形式へ転換(7/16・23・30実施)</a:t>
            </a:r>
            <a:endParaRPr lang="en-US" sz="1100" dirty="0"/>
          </a:p>
        </p:txBody>
      </p:sp>
      <p:sp>
        <p:nvSpPr>
          <p:cNvPr id="25" name="Shape 23"/>
          <p:cNvSpPr/>
          <p:nvPr/>
        </p:nvSpPr>
        <p:spPr>
          <a:xfrm>
            <a:off x="548640" y="4846320"/>
            <a:ext cx="11109960" cy="1234440"/>
          </a:xfrm>
          <a:prstGeom prst="roundRect">
            <a:avLst>
              <a:gd name="adj" fmla="val 5926"/>
            </a:avLst>
          </a:prstGeom>
          <a:solidFill>
            <a:srgbClr val="F2F6FA"/>
          </a:solidFill>
          <a:ln/>
        </p:spPr>
      </p:sp>
      <p:sp>
        <p:nvSpPr>
          <p:cNvPr id="26" name="Text 24"/>
          <p:cNvSpPr/>
          <p:nvPr/>
        </p:nvSpPr>
        <p:spPr>
          <a:xfrm>
            <a:off x="777240" y="4983480"/>
            <a:ext cx="10652760" cy="1005840"/>
          </a:xfrm>
          <a:prstGeom prst="rect">
            <a:avLst/>
          </a:prstGeom>
          <a:noFill/>
          <a:ln/>
        </p:spPr>
        <p:txBody>
          <a:bodyPr wrap="square" lIns="0" tIns="0" rIns="0" bIns="0" rtlCol="0" anchor="t"/>
          <a:lstStyle/>
          <a:p>
            <a:pPr indent="0" marL="0">
              <a:buNone/>
            </a:pPr>
            <a:r>
              <a:rPr lang="en-US" sz="1150" b="1" dirty="0">
                <a:solidFill>
                  <a:srgbClr val="1B3A5C"/>
                </a:solidFill>
                <a:latin typeface="Yu Gothic" pitchFamily="34" charset="0"/>
                <a:ea typeface="Yu Gothic" pitchFamily="34" charset="-122"/>
                <a:cs typeface="Yu Gothic" pitchFamily="34" charset="-120"/>
              </a:rPr>
              <a:t>背景と学び: </a:t>
            </a:r>
            <a:endParaRPr lang="en-US" sz="1150" dirty="0"/>
          </a:p>
          <a:p>
            <a:pPr indent="0" marL="0">
              <a:buNone/>
            </a:pPr>
            <a:r>
              <a:rPr lang="en-US" sz="1150" dirty="0">
                <a:solidFill>
                  <a:srgbClr val="374151"/>
                </a:solidFill>
                <a:latin typeface="Yu Gothic" pitchFamily="34" charset="0"/>
                <a:ea typeface="Yu Gothic" pitchFamily="34" charset="-122"/>
                <a:cs typeface="Yu Gothic" pitchFamily="34" charset="-120"/>
              </a:rPr>
              <a:t>対面開催は集客に苦戦(申込0〜1名)。土曜午前→午後→オンラインと開催形式を検証し、「木曜夜・顔出しなし・匿名参加可」というターゲット(在職中・人見知り傾向の若手)に合わせた現在の形に到達。説明会は応募前の不安を解消する中核導線として、LP・LINE公式・求人原稿すべてに組み込み済み。</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施策④ Web広告とLPの継続改善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データ分析(ヒートマップ・行動解析)に基づく高速な改善サイクル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08</a:t>
            </a:r>
            <a:endParaRPr lang="en-US" sz="1600" dirty="0"/>
          </a:p>
        </p:txBody>
      </p:sp>
      <p:sp>
        <p:nvSpPr>
          <p:cNvPr id="5" name="Text 3"/>
          <p:cNvSpPr/>
          <p:nvPr/>
        </p:nvSpPr>
        <p:spPr>
          <a:xfrm>
            <a:off x="5486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Web広告の運用</a:t>
            </a:r>
            <a:endParaRPr lang="en-US" sz="1500" dirty="0"/>
          </a:p>
        </p:txBody>
      </p:sp>
      <p:sp>
        <p:nvSpPr>
          <p:cNvPr id="6" name="Shape 4"/>
          <p:cNvSpPr/>
          <p:nvPr/>
        </p:nvSpPr>
        <p:spPr>
          <a:xfrm>
            <a:off x="548640" y="2011680"/>
            <a:ext cx="5577840" cy="1170432"/>
          </a:xfrm>
          <a:prstGeom prst="roundRect">
            <a:avLst>
              <a:gd name="adj" fmla="val 6250"/>
            </a:avLst>
          </a:prstGeom>
          <a:solidFill>
            <a:srgbClr val="F2F6FA"/>
          </a:solidFill>
          <a:ln/>
        </p:spPr>
      </p:sp>
      <p:sp>
        <p:nvSpPr>
          <p:cNvPr id="7" name="Text 5"/>
          <p:cNvSpPr/>
          <p:nvPr/>
        </p:nvSpPr>
        <p:spPr>
          <a:xfrm>
            <a:off x="777240" y="2121408"/>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Meta広告</a:t>
            </a:r>
            <a:endParaRPr lang="en-US" sz="1250" dirty="0"/>
          </a:p>
        </p:txBody>
      </p:sp>
      <p:sp>
        <p:nvSpPr>
          <p:cNvPr id="8" name="Text 6"/>
          <p:cNvSpPr/>
          <p:nvPr/>
        </p:nvSpPr>
        <p:spPr>
          <a:xfrm>
            <a:off x="777240" y="2414016"/>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検証の結果Instagramに集中(CTR 2.26%・クリック単価¥30)。AI画像・漫画形式などクリエイティブをABテスト。フォーム直接誘導も検証し、効率の良いLP誘導へ回帰</a:t>
            </a:r>
            <a:endParaRPr lang="en-US" sz="1050" dirty="0"/>
          </a:p>
        </p:txBody>
      </p:sp>
      <p:sp>
        <p:nvSpPr>
          <p:cNvPr id="9" name="Shape 7"/>
          <p:cNvSpPr/>
          <p:nvPr/>
        </p:nvSpPr>
        <p:spPr>
          <a:xfrm>
            <a:off x="548640" y="3310128"/>
            <a:ext cx="5577840" cy="1170432"/>
          </a:xfrm>
          <a:prstGeom prst="roundRect">
            <a:avLst>
              <a:gd name="adj" fmla="val 6250"/>
            </a:avLst>
          </a:prstGeom>
          <a:solidFill>
            <a:srgbClr val="F2F6FA"/>
          </a:solidFill>
          <a:ln/>
        </p:spPr>
      </p:sp>
      <p:sp>
        <p:nvSpPr>
          <p:cNvPr id="10" name="Text 8"/>
          <p:cNvSpPr/>
          <p:nvPr/>
        </p:nvSpPr>
        <p:spPr>
          <a:xfrm>
            <a:off x="777240" y="3419856"/>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Google広告</a:t>
            </a:r>
            <a:endParaRPr lang="en-US" sz="1250" dirty="0"/>
          </a:p>
        </p:txBody>
      </p:sp>
      <p:sp>
        <p:nvSpPr>
          <p:cNvPr id="11" name="Text 9"/>
          <p:cNvSpPr/>
          <p:nvPr/>
        </p:nvSpPr>
        <p:spPr>
          <a:xfrm>
            <a:off x="777240" y="3712464"/>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LPに1分以上滞在した未応募層へのリターゲティング配信(6月〜)。エリア・年齢・スマホ限定で無駄打ちを排除</a:t>
            </a:r>
            <a:endParaRPr lang="en-US" sz="1050" dirty="0"/>
          </a:p>
        </p:txBody>
      </p:sp>
      <p:sp>
        <p:nvSpPr>
          <p:cNvPr id="12" name="Shape 10"/>
          <p:cNvSpPr/>
          <p:nvPr/>
        </p:nvSpPr>
        <p:spPr>
          <a:xfrm>
            <a:off x="548640" y="4608576"/>
            <a:ext cx="5577840" cy="1170432"/>
          </a:xfrm>
          <a:prstGeom prst="roundRect">
            <a:avLst>
              <a:gd name="adj" fmla="val 6250"/>
            </a:avLst>
          </a:prstGeom>
          <a:solidFill>
            <a:srgbClr val="F2F6FA"/>
          </a:solidFill>
          <a:ln/>
        </p:spPr>
      </p:sp>
      <p:sp>
        <p:nvSpPr>
          <p:cNvPr id="13" name="Text 11"/>
          <p:cNvSpPr/>
          <p:nvPr/>
        </p:nvSpPr>
        <p:spPr>
          <a:xfrm>
            <a:off x="777240" y="4718304"/>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X(旧Twitter)</a:t>
            </a:r>
            <a:endParaRPr lang="en-US" sz="1250" dirty="0"/>
          </a:p>
        </p:txBody>
      </p:sp>
      <p:sp>
        <p:nvSpPr>
          <p:cNvPr id="14" name="Text 12"/>
          <p:cNvSpPr/>
          <p:nvPr/>
        </p:nvSpPr>
        <p:spPr>
          <a:xfrm>
            <a:off x="777240" y="501091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社長アカウントの発信と連動。求人投稿が250万ビューを2回記録、「配管 富山 求人」で検索1位</a:t>
            </a:r>
            <a:endParaRPr lang="en-US" sz="1050" dirty="0"/>
          </a:p>
        </p:txBody>
      </p:sp>
      <p:sp>
        <p:nvSpPr>
          <p:cNvPr id="15" name="Text 13"/>
          <p:cNvSpPr/>
          <p:nvPr/>
        </p:nvSpPr>
        <p:spPr>
          <a:xfrm>
            <a:off x="64922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LP(採用ランディングページ)の改善</a:t>
            </a:r>
            <a:endParaRPr lang="en-US" sz="1500" dirty="0"/>
          </a:p>
        </p:txBody>
      </p:sp>
      <p:sp>
        <p:nvSpPr>
          <p:cNvPr id="16" name="Text 14"/>
          <p:cNvSpPr/>
          <p:nvPr/>
        </p:nvSpPr>
        <p:spPr>
          <a:xfrm>
            <a:off x="6492240" y="2011680"/>
            <a:ext cx="5212080" cy="237744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ヒートマップ・録画分析で「説明会日程・給与しか見られていない」実態を特定 → 重要情報のみの超短縮版へ全面刷新</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応募フォームの電話番号入力を廃止しメールのみに(心理的ハードルを低減)</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重いアニメーションを削減し読み込み速度を改善・スマホ特化</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LINE公式アカウント導線・中間CTA・予約フォーム簡素化などを継続的に実施</a:t>
            </a:r>
            <a:endParaRPr lang="en-US" sz="1150" dirty="0"/>
          </a:p>
        </p:txBody>
      </p:sp>
      <p:sp>
        <p:nvSpPr>
          <p:cNvPr id="17" name="Shape 15"/>
          <p:cNvSpPr/>
          <p:nvPr/>
        </p:nvSpPr>
        <p:spPr>
          <a:xfrm>
            <a:off x="6492240" y="4572000"/>
            <a:ext cx="2514600" cy="1371600"/>
          </a:xfrm>
          <a:prstGeom prst="roundRect">
            <a:avLst>
              <a:gd name="adj" fmla="val 5333"/>
            </a:avLst>
          </a:prstGeom>
          <a:solidFill>
            <a:srgbClr val="F2F6FA"/>
          </a:solidFill>
          <a:ln/>
        </p:spPr>
      </p:sp>
      <p:sp>
        <p:nvSpPr>
          <p:cNvPr id="18" name="Text 16"/>
          <p:cNvSpPr/>
          <p:nvPr/>
        </p:nvSpPr>
        <p:spPr>
          <a:xfrm>
            <a:off x="6629400" y="4681728"/>
            <a:ext cx="2240280" cy="6858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24→38%</a:t>
            </a:r>
            <a:endParaRPr lang="en-US" sz="3200" dirty="0"/>
          </a:p>
        </p:txBody>
      </p:sp>
      <p:sp>
        <p:nvSpPr>
          <p:cNvPr id="19" name="Text 17"/>
          <p:cNvSpPr/>
          <p:nvPr/>
        </p:nvSpPr>
        <p:spPr>
          <a:xfrm>
            <a:off x="662940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LP平均スクロール深度</a:t>
            </a:r>
            <a:endParaRPr lang="en-US" sz="1250" dirty="0"/>
          </a:p>
        </p:txBody>
      </p:sp>
      <p:sp>
        <p:nvSpPr>
          <p:cNvPr id="20" name="Text 18"/>
          <p:cNvSpPr/>
          <p:nvPr/>
        </p:nvSpPr>
        <p:spPr>
          <a:xfrm>
            <a:off x="662940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6月→7月。「読まれるLP」へ改善</a:t>
            </a:r>
            <a:endParaRPr lang="en-US" sz="950" dirty="0"/>
          </a:p>
        </p:txBody>
      </p:sp>
      <p:sp>
        <p:nvSpPr>
          <p:cNvPr id="21" name="Shape 19"/>
          <p:cNvSpPr/>
          <p:nvPr/>
        </p:nvSpPr>
        <p:spPr>
          <a:xfrm>
            <a:off x="9144000" y="4572000"/>
            <a:ext cx="2514600" cy="1371600"/>
          </a:xfrm>
          <a:prstGeom prst="roundRect">
            <a:avLst>
              <a:gd name="adj" fmla="val 5333"/>
            </a:avLst>
          </a:prstGeom>
          <a:solidFill>
            <a:srgbClr val="F2F6FA"/>
          </a:solidFill>
          <a:ln/>
        </p:spPr>
      </p:sp>
      <p:sp>
        <p:nvSpPr>
          <p:cNvPr id="22" name="Text 20"/>
          <p:cNvSpPr/>
          <p:nvPr/>
        </p:nvSpPr>
        <p:spPr>
          <a:xfrm>
            <a:off x="9281160" y="4681728"/>
            <a:ext cx="2240280" cy="685800"/>
          </a:xfrm>
          <a:prstGeom prst="rect">
            <a:avLst/>
          </a:prstGeom>
          <a:noFill/>
          <a:ln/>
        </p:spPr>
        <p:txBody>
          <a:bodyPr wrap="square" lIns="0" tIns="0" rIns="0" bIns="0" rtlCol="0" anchor="ctr"/>
          <a:lstStyle/>
          <a:p>
            <a:pPr indent="0" marL="0">
              <a:buNone/>
            </a:pPr>
            <a:r>
              <a:rPr lang="en-US" sz="3200" b="1" dirty="0">
                <a:solidFill>
                  <a:srgbClr val="1B3A5C"/>
                </a:solidFill>
                <a:latin typeface="Yu Gothic" pitchFamily="34" charset="0"/>
                <a:ea typeface="Yu Gothic" pitchFamily="34" charset="-122"/>
                <a:cs typeface="Yu Gothic" pitchFamily="34" charset="-120"/>
              </a:rPr>
              <a:t>1,547</a:t>
            </a:r>
            <a:endParaRPr lang="en-US" sz="3200" dirty="0"/>
          </a:p>
        </p:txBody>
      </p:sp>
      <p:sp>
        <p:nvSpPr>
          <p:cNvPr id="23" name="Text 21"/>
          <p:cNvSpPr/>
          <p:nvPr/>
        </p:nvSpPr>
        <p:spPr>
          <a:xfrm>
            <a:off x="928116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LP累計PV(応募6件)</a:t>
            </a:r>
            <a:endParaRPr lang="en-US" sz="1250" dirty="0"/>
          </a:p>
        </p:txBody>
      </p:sp>
      <p:sp>
        <p:nvSpPr>
          <p:cNvPr id="24" name="Text 22"/>
          <p:cNvSpPr/>
          <p:nvPr/>
        </p:nvSpPr>
        <p:spPr>
          <a:xfrm>
            <a:off x="928116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12月14PV→6月380PVへ拡大</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施策⑤ SNS・動画・新チャネルの開拓</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リスクとコストを見極めながら、持続可能な発信体制へ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09</a:t>
            </a:r>
            <a:endParaRPr lang="en-US" sz="1600" dirty="0"/>
          </a:p>
        </p:txBody>
      </p:sp>
      <p:sp>
        <p:nvSpPr>
          <p:cNvPr id="5" name="Shape 3"/>
          <p:cNvSpPr/>
          <p:nvPr/>
        </p:nvSpPr>
        <p:spPr>
          <a:xfrm>
            <a:off x="548640" y="1645920"/>
            <a:ext cx="5303520" cy="1920240"/>
          </a:xfrm>
          <a:prstGeom prst="roundRect">
            <a:avLst>
              <a:gd name="adj" fmla="val 4762"/>
            </a:avLst>
          </a:prstGeom>
          <a:solidFill>
            <a:srgbClr val="F2F6FA"/>
          </a:solidFill>
          <a:ln/>
        </p:spPr>
      </p:sp>
      <p:sp>
        <p:nvSpPr>
          <p:cNvPr id="6" name="Text 4"/>
          <p:cNvSpPr/>
          <p:nvPr/>
        </p:nvSpPr>
        <p:spPr>
          <a:xfrm>
            <a:off x="777240" y="181051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動画戦略の検証</a:t>
            </a:r>
            <a:endParaRPr lang="en-US" sz="1400" dirty="0"/>
          </a:p>
        </p:txBody>
      </p:sp>
      <p:sp>
        <p:nvSpPr>
          <p:cNvPr id="7" name="Text 5"/>
          <p:cNvSpPr/>
          <p:nvPr/>
        </p:nvSpPr>
        <p:spPr>
          <a:xfrm>
            <a:off x="777240" y="221284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ライブ配信 → 録画切り抜き → 静止画+文字へと検証。権利・安全管理上のリスクと制作負荷を踏まえ、社長が自走できる「静止画+文字のInstagram定期投稿」に着地(7月)</a:t>
            </a:r>
            <a:endParaRPr lang="en-US" sz="1100" dirty="0"/>
          </a:p>
        </p:txBody>
      </p:sp>
      <p:sp>
        <p:nvSpPr>
          <p:cNvPr id="8" name="Shape 6"/>
          <p:cNvSpPr/>
          <p:nvPr/>
        </p:nvSpPr>
        <p:spPr>
          <a:xfrm>
            <a:off x="6355080" y="1645920"/>
            <a:ext cx="5303520" cy="1920240"/>
          </a:xfrm>
          <a:prstGeom prst="roundRect">
            <a:avLst>
              <a:gd name="adj" fmla="val 4762"/>
            </a:avLst>
          </a:prstGeom>
          <a:solidFill>
            <a:srgbClr val="1B3A5C"/>
          </a:solidFill>
          <a:ln/>
        </p:spPr>
      </p:sp>
      <p:sp>
        <p:nvSpPr>
          <p:cNvPr id="9" name="Text 7"/>
          <p:cNvSpPr/>
          <p:nvPr/>
        </p:nvSpPr>
        <p:spPr>
          <a:xfrm>
            <a:off x="6583680" y="1810512"/>
            <a:ext cx="4846320" cy="365760"/>
          </a:xfrm>
          <a:prstGeom prst="rect">
            <a:avLst/>
          </a:prstGeom>
          <a:noFill/>
          <a:ln/>
        </p:spPr>
        <p:txBody>
          <a:bodyPr wrap="square" lIns="0" tIns="0" rIns="0" bIns="0" rtlCol="0" anchor="ctr"/>
          <a:lstStyle/>
          <a:p>
            <a:pPr indent="0" marL="0">
              <a:buNone/>
            </a:pPr>
            <a:r>
              <a:rPr lang="en-US" sz="1400" b="1" dirty="0">
                <a:solidFill>
                  <a:srgbClr val="E8762C"/>
                </a:solidFill>
                <a:latin typeface="Yu Gothic" pitchFamily="34" charset="0"/>
                <a:ea typeface="Yu Gothic" pitchFamily="34" charset="-122"/>
                <a:cs typeface="Yu Gothic" pitchFamily="34" charset="-120"/>
              </a:rPr>
              <a:t>Instagram運用</a:t>
            </a:r>
            <a:endParaRPr lang="en-US" sz="1400" dirty="0"/>
          </a:p>
        </p:txBody>
      </p:sp>
      <p:sp>
        <p:nvSpPr>
          <p:cNvPr id="10" name="Text 8"/>
          <p:cNvSpPr/>
          <p:nvPr/>
        </p:nvSpPr>
        <p:spPr>
          <a:xfrm>
            <a:off x="6583680" y="2212848"/>
            <a:ext cx="4846320" cy="123444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会社紹介・Q&amp;A系の定番投稿を量産。お盆前完了予定のHPリニューアルと連携し「求人媒体 → Instagram → HP」の導線を構築</a:t>
            </a:r>
            <a:endParaRPr lang="en-US" sz="1100" dirty="0"/>
          </a:p>
        </p:txBody>
      </p:sp>
      <p:sp>
        <p:nvSpPr>
          <p:cNvPr id="11" name="Shape 9"/>
          <p:cNvSpPr/>
          <p:nvPr/>
        </p:nvSpPr>
        <p:spPr>
          <a:xfrm>
            <a:off x="548640" y="3794760"/>
            <a:ext cx="5303520" cy="1920240"/>
          </a:xfrm>
          <a:prstGeom prst="roundRect">
            <a:avLst>
              <a:gd name="adj" fmla="val 4762"/>
            </a:avLst>
          </a:prstGeom>
          <a:solidFill>
            <a:srgbClr val="F2F6FA"/>
          </a:solidFill>
          <a:ln/>
        </p:spPr>
      </p:sp>
      <p:sp>
        <p:nvSpPr>
          <p:cNvPr id="12" name="Text 10"/>
          <p:cNvSpPr/>
          <p:nvPr/>
        </p:nvSpPr>
        <p:spPr>
          <a:xfrm>
            <a:off x="77724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LINE公式アカウント</a:t>
            </a:r>
            <a:endParaRPr lang="en-US" sz="1400" dirty="0"/>
          </a:p>
        </p:txBody>
      </p:sp>
      <p:sp>
        <p:nvSpPr>
          <p:cNvPr id="13" name="Text 11"/>
          <p:cNvSpPr/>
          <p:nvPr/>
        </p:nvSpPr>
        <p:spPr>
          <a:xfrm>
            <a:off x="77724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若手に多いLINE経由応募に対応(6月開設)。求人・LP・広告に友だち追加導線を設置</a:t>
            </a:r>
            <a:endParaRPr lang="en-US" sz="1100" dirty="0"/>
          </a:p>
        </p:txBody>
      </p:sp>
      <p:sp>
        <p:nvSpPr>
          <p:cNvPr id="14" name="Shape 12"/>
          <p:cNvSpPr/>
          <p:nvPr/>
        </p:nvSpPr>
        <p:spPr>
          <a:xfrm>
            <a:off x="6355080" y="3794760"/>
            <a:ext cx="5303520" cy="1920240"/>
          </a:xfrm>
          <a:prstGeom prst="roundRect">
            <a:avLst>
              <a:gd name="adj" fmla="val 4762"/>
            </a:avLst>
          </a:prstGeom>
          <a:solidFill>
            <a:srgbClr val="F2F6FA"/>
          </a:solidFill>
          <a:ln/>
        </p:spPr>
      </p:sp>
      <p:sp>
        <p:nvSpPr>
          <p:cNvPr id="15" name="Text 13"/>
          <p:cNvSpPr/>
          <p:nvPr/>
        </p:nvSpPr>
        <p:spPr>
          <a:xfrm>
            <a:off x="658368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新チャネル調査</a:t>
            </a:r>
            <a:endParaRPr lang="en-US" sz="1400" dirty="0"/>
          </a:p>
        </p:txBody>
      </p:sp>
      <p:sp>
        <p:nvSpPr>
          <p:cNvPr id="16" name="Text 14"/>
          <p:cNvSpPr/>
          <p:nvPr/>
        </p:nvSpPr>
        <p:spPr>
          <a:xfrm>
            <a:off x="658368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マイナビ転職フェア富山(来場151名・20〜30代中心/出展20〜35万円)、建設職人特化「職人スカウト」(登録3,300名)を調査。10月・1月開催に向け交渉準備</a:t>
            </a:r>
            <a:endParaRPr lang="en-US" sz="1100" dirty="0"/>
          </a:p>
        </p:txBody>
      </p:sp>
      <p:sp>
        <p:nvSpPr>
          <p:cNvPr id="17" name="Text 15"/>
          <p:cNvSpPr/>
          <p:nvPr/>
        </p:nvSpPr>
        <p:spPr>
          <a:xfrm>
            <a:off x="548640" y="5943600"/>
            <a:ext cx="1097280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 6〜7月は夏季賞与支給に伴う転職鈍化期。8月からの市場再活性化(ピーク9〜10月)を見据えた仕込みを完了しています。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成果サマリー ─ 応募実績</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応募ゼロの状態から、20〜30代を中心に毎月応募が発生する状態へ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10</a:t>
            </a:r>
            <a:endParaRPr lang="en-US" sz="1600" dirty="0"/>
          </a:p>
        </p:txBody>
      </p:sp>
      <p:graphicFrame>
        <p:nvGraphicFramePr>
          <p:cNvPr id="5" name="Chart 0" descr=""/>
          <p:cNvGraphicFramePr/>
          <p:nvPr/>
        </p:nvGraphicFramePr>
        <p:xfrm>
          <a:off x="548640" y="16916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074920"/>
            <a:ext cx="5120640" cy="1143000"/>
          </a:xfrm>
          <a:prstGeom prst="roundRect">
            <a:avLst>
              <a:gd name="adj" fmla="val 6400"/>
            </a:avLst>
          </a:prstGeom>
          <a:solidFill>
            <a:srgbClr val="F2F6FA"/>
          </a:solidFill>
          <a:ln/>
        </p:spPr>
      </p:sp>
      <p:sp>
        <p:nvSpPr>
          <p:cNvPr id="7" name="Text 4"/>
          <p:cNvSpPr/>
          <p:nvPr/>
        </p:nvSpPr>
        <p:spPr>
          <a:xfrm>
            <a:off x="777240" y="5193792"/>
            <a:ext cx="4663440" cy="91440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20〜30代の最大の獲得源はスカウト型(ヤギオファー: 4名)。</a:t>
            </a:r>
            <a:pPr indent="0" marL="0">
              <a:buNone/>
            </a:pPr>
            <a:r>
              <a:rPr lang="en-US" sz="1100" dirty="0">
                <a:solidFill>
                  <a:srgbClr val="374151"/>
                </a:solidFill>
                <a:latin typeface="Yu Gothic" pitchFamily="34" charset="0"/>
                <a:ea typeface="Yu Gothic" pitchFamily="34" charset="-122"/>
                <a:cs typeface="Yu Gothic" pitchFamily="34" charset="-120"/>
              </a:rPr>
              <a:t>100通で2〜3名の反響と、業界平均(500通で1〜2名)を大きく上回る文面の刺さりを実証しました。</a:t>
            </a:r>
            <a:endParaRPr lang="en-US" sz="1100" dirty="0"/>
          </a:p>
        </p:txBody>
      </p:sp>
      <p:sp>
        <p:nvSpPr>
          <p:cNvPr id="8" name="Text 5"/>
          <p:cNvSpPr/>
          <p:nvPr/>
        </p:nvSpPr>
        <p:spPr>
          <a:xfrm>
            <a:off x="6309360" y="169164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年齢帯別の応募実績 ─ ターゲット層(20・30代)に到達</a:t>
            </a:r>
            <a:endParaRPr lang="en-US" sz="1500" dirty="0"/>
          </a:p>
        </p:txBody>
      </p:sp>
      <p:sp>
        <p:nvSpPr>
          <p:cNvPr id="9" name="Shape 6"/>
          <p:cNvSpPr/>
          <p:nvPr/>
        </p:nvSpPr>
        <p:spPr>
          <a:xfrm>
            <a:off x="6309360" y="2148840"/>
            <a:ext cx="5349240" cy="566928"/>
          </a:xfrm>
          <a:prstGeom prst="roundRect">
            <a:avLst>
              <a:gd name="adj" fmla="val 9677"/>
            </a:avLst>
          </a:prstGeom>
          <a:solidFill>
            <a:srgbClr val="E8762C"/>
          </a:solidFill>
          <a:ln/>
        </p:spPr>
      </p:sp>
      <p:sp>
        <p:nvSpPr>
          <p:cNvPr id="10" name="Text 7"/>
          <p:cNvSpPr/>
          <p:nvPr/>
        </p:nvSpPr>
        <p:spPr>
          <a:xfrm>
            <a:off x="6492240" y="2148840"/>
            <a:ext cx="50749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20代  </a:t>
            </a:r>
            <a:pPr indent="0" marL="0">
              <a:buNone/>
            </a:pPr>
            <a:r>
              <a:rPr lang="en-US" sz="1250" b="1" dirty="0">
                <a:solidFill>
                  <a:srgbClr val="FFFFFF"/>
                </a:solidFill>
                <a:latin typeface="Yu Gothic" pitchFamily="34" charset="0"/>
                <a:ea typeface="Yu Gothic" pitchFamily="34" charset="-122"/>
                <a:cs typeface="Yu Gothic" pitchFamily="34" charset="-120"/>
              </a:rPr>
              <a:t>5名  </a:t>
            </a:r>
            <a:pPr indent="0" marL="0">
              <a:buNone/>
            </a:pPr>
            <a:r>
              <a:rPr lang="en-US" sz="950" dirty="0">
                <a:solidFill>
                  <a:srgbClr val="FFFFFF"/>
                </a:solidFill>
                <a:latin typeface="Yu Gothic" pitchFamily="34" charset="0"/>
                <a:ea typeface="Yu Gothic" pitchFamily="34" charset="-122"/>
                <a:cs typeface="Yu Gothic" pitchFamily="34" charset="-120"/>
              </a:rPr>
              <a:t>(21・23・24・29・29歳)</a:t>
            </a:r>
            <a:endParaRPr lang="en-US" sz="1250" dirty="0"/>
          </a:p>
        </p:txBody>
      </p:sp>
      <p:sp>
        <p:nvSpPr>
          <p:cNvPr id="11" name="Shape 8"/>
          <p:cNvSpPr/>
          <p:nvPr/>
        </p:nvSpPr>
        <p:spPr>
          <a:xfrm>
            <a:off x="6309360" y="2825496"/>
            <a:ext cx="3977640" cy="566928"/>
          </a:xfrm>
          <a:prstGeom prst="roundRect">
            <a:avLst>
              <a:gd name="adj" fmla="val 9677"/>
            </a:avLst>
          </a:prstGeom>
          <a:solidFill>
            <a:srgbClr val="E8762C"/>
          </a:solidFill>
          <a:ln/>
        </p:spPr>
      </p:sp>
      <p:sp>
        <p:nvSpPr>
          <p:cNvPr id="12" name="Text 9"/>
          <p:cNvSpPr/>
          <p:nvPr/>
        </p:nvSpPr>
        <p:spPr>
          <a:xfrm>
            <a:off x="6492240" y="2825496"/>
            <a:ext cx="37033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30代  </a:t>
            </a:r>
            <a:pPr indent="0" marL="0">
              <a:buNone/>
            </a:pPr>
            <a:r>
              <a:rPr lang="en-US" sz="1250" b="1" dirty="0">
                <a:solidFill>
                  <a:srgbClr val="FFFFFF"/>
                </a:solidFill>
                <a:latin typeface="Yu Gothic" pitchFamily="34" charset="0"/>
                <a:ea typeface="Yu Gothic" pitchFamily="34" charset="-122"/>
                <a:cs typeface="Yu Gothic" pitchFamily="34" charset="-120"/>
              </a:rPr>
              <a:t>3名  </a:t>
            </a:r>
            <a:pPr indent="0" marL="0">
              <a:buNone/>
            </a:pPr>
            <a:r>
              <a:rPr lang="en-US" sz="950" dirty="0">
                <a:solidFill>
                  <a:srgbClr val="FFFFFF"/>
                </a:solidFill>
                <a:latin typeface="Yu Gothic" pitchFamily="34" charset="0"/>
                <a:ea typeface="Yu Gothic" pitchFamily="34" charset="-122"/>
                <a:cs typeface="Yu Gothic" pitchFamily="34" charset="-120"/>
              </a:rPr>
              <a:t>(31・35・36歳)</a:t>
            </a:r>
            <a:endParaRPr lang="en-US" sz="1250" dirty="0"/>
          </a:p>
        </p:txBody>
      </p:sp>
      <p:sp>
        <p:nvSpPr>
          <p:cNvPr id="13" name="Shape 10"/>
          <p:cNvSpPr/>
          <p:nvPr/>
        </p:nvSpPr>
        <p:spPr>
          <a:xfrm>
            <a:off x="6309360" y="3502152"/>
            <a:ext cx="4434840" cy="566928"/>
          </a:xfrm>
          <a:prstGeom prst="roundRect">
            <a:avLst>
              <a:gd name="adj" fmla="val 9677"/>
            </a:avLst>
          </a:prstGeom>
          <a:solidFill>
            <a:srgbClr val="5A7A99"/>
          </a:solidFill>
          <a:ln/>
        </p:spPr>
      </p:sp>
      <p:sp>
        <p:nvSpPr>
          <p:cNvPr id="14" name="Text 11"/>
          <p:cNvSpPr/>
          <p:nvPr/>
        </p:nvSpPr>
        <p:spPr>
          <a:xfrm>
            <a:off x="6492240" y="3502152"/>
            <a:ext cx="41605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40代以上  </a:t>
            </a:r>
            <a:pPr indent="0" marL="0">
              <a:buNone/>
            </a:pPr>
            <a:r>
              <a:rPr lang="en-US" sz="1250" b="1" dirty="0">
                <a:solidFill>
                  <a:srgbClr val="FFFFFF"/>
                </a:solidFill>
                <a:latin typeface="Yu Gothic" pitchFamily="34" charset="0"/>
                <a:ea typeface="Yu Gothic" pitchFamily="34" charset="-122"/>
                <a:cs typeface="Yu Gothic" pitchFamily="34" charset="-120"/>
              </a:rPr>
              <a:t>4名  </a:t>
            </a:r>
            <a:pPr indent="0" marL="0">
              <a:buNone/>
            </a:pPr>
            <a:r>
              <a:rPr lang="en-US" sz="950" dirty="0">
                <a:solidFill>
                  <a:srgbClr val="FFFFFF"/>
                </a:solidFill>
                <a:latin typeface="Yu Gothic" pitchFamily="34" charset="0"/>
                <a:ea typeface="Yu Gothic" pitchFamily="34" charset="-122"/>
                <a:cs typeface="Yu Gothic" pitchFamily="34" charset="-120"/>
              </a:rPr>
              <a:t>(48〜77歳・ターゲット外)</a:t>
            </a:r>
            <a:endParaRPr lang="en-US" sz="1250" dirty="0"/>
          </a:p>
        </p:txBody>
      </p:sp>
      <p:sp>
        <p:nvSpPr>
          <p:cNvPr id="15" name="Text 12"/>
          <p:cNvSpPr/>
          <p:nvPr/>
        </p:nvSpPr>
        <p:spPr>
          <a:xfrm>
            <a:off x="6309360" y="4142232"/>
            <a:ext cx="5394960" cy="237744"/>
          </a:xfrm>
          <a:prstGeom prst="rect">
            <a:avLst/>
          </a:prstGeom>
          <a:noFill/>
          <a:ln/>
        </p:spPr>
        <p:txBody>
          <a:bodyPr wrap="square" lIns="0" tIns="0" rIns="0" bIns="0" rtlCol="0" anchor="ctr"/>
          <a:lstStyle/>
          <a:p>
            <a:pPr indent="0" marL="0">
              <a:buNone/>
            </a:pPr>
            <a:r>
              <a:rPr lang="en-US" sz="900" dirty="0">
                <a:solidFill>
                  <a:srgbClr val="6B7280"/>
                </a:solidFill>
                <a:latin typeface="Yu Gothic" pitchFamily="34" charset="0"/>
                <a:ea typeface="Yu Gothic" pitchFamily="34" charset="-122"/>
                <a:cs typeface="Yu Gothic" pitchFamily="34" charset="-120"/>
              </a:rPr>
              <a:t>※応募13件のうち1名は2媒体からの重複応募のため、実人数12名で集計</a:t>
            </a:r>
            <a:endParaRPr lang="en-US" sz="900" dirty="0"/>
          </a:p>
        </p:txBody>
      </p:sp>
      <p:sp>
        <p:nvSpPr>
          <p:cNvPr id="16" name="Text 13"/>
          <p:cNvSpPr/>
          <p:nvPr/>
        </p:nvSpPr>
        <p:spPr>
          <a:xfrm>
            <a:off x="6309360" y="4471416"/>
            <a:ext cx="5349240" cy="274320"/>
          </a:xfrm>
          <a:prstGeom prst="rect">
            <a:avLst/>
          </a:prstGeom>
          <a:noFill/>
          <a:ln/>
        </p:spPr>
        <p:txBody>
          <a:bodyPr wrap="square" lIns="0" tIns="0" rIns="0" bIns="0" rtlCol="0" anchor="ctr"/>
          <a:lstStyle/>
          <a:p>
            <a:pPr indent="0" marL="0">
              <a:buNone/>
            </a:pPr>
            <a:r>
              <a:rPr lang="en-US" sz="1200" b="1" dirty="0">
                <a:solidFill>
                  <a:srgbClr val="1B3A5C"/>
                </a:solidFill>
                <a:latin typeface="Yu Gothic" pitchFamily="34" charset="0"/>
                <a:ea typeface="Yu Gothic" pitchFamily="34" charset="-122"/>
                <a:cs typeface="Yu Gothic" pitchFamily="34" charset="-120"/>
              </a:rPr>
              <a:t>20〜30代応募の月別推移</a:t>
            </a:r>
            <a:endParaRPr lang="en-US" sz="1200" dirty="0"/>
          </a:p>
        </p:txBody>
      </p:sp>
      <p:sp>
        <p:nvSpPr>
          <p:cNvPr id="17" name="Shape 14"/>
          <p:cNvSpPr/>
          <p:nvPr/>
        </p:nvSpPr>
        <p:spPr>
          <a:xfrm>
            <a:off x="6309360" y="4782312"/>
            <a:ext cx="960120" cy="475488"/>
          </a:xfrm>
          <a:prstGeom prst="roundRect">
            <a:avLst>
              <a:gd name="adj" fmla="val 9615"/>
            </a:avLst>
          </a:prstGeom>
          <a:solidFill>
            <a:srgbClr val="E8762C"/>
          </a:solidFill>
          <a:ln/>
        </p:spPr>
      </p:sp>
      <p:sp>
        <p:nvSpPr>
          <p:cNvPr id="18" name="Text 15"/>
          <p:cNvSpPr/>
          <p:nvPr/>
        </p:nvSpPr>
        <p:spPr>
          <a:xfrm>
            <a:off x="630936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3月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19" name="Shape 16"/>
          <p:cNvSpPr/>
          <p:nvPr/>
        </p:nvSpPr>
        <p:spPr>
          <a:xfrm>
            <a:off x="7406640" y="4782312"/>
            <a:ext cx="960120" cy="475488"/>
          </a:xfrm>
          <a:prstGeom prst="roundRect">
            <a:avLst>
              <a:gd name="adj" fmla="val 9615"/>
            </a:avLst>
          </a:prstGeom>
          <a:solidFill>
            <a:srgbClr val="E5E7EB"/>
          </a:solidFill>
          <a:ln/>
        </p:spPr>
      </p:sp>
      <p:sp>
        <p:nvSpPr>
          <p:cNvPr id="20" name="Text 17"/>
          <p:cNvSpPr/>
          <p:nvPr/>
        </p:nvSpPr>
        <p:spPr>
          <a:xfrm>
            <a:off x="7406640" y="4782312"/>
            <a:ext cx="960120" cy="475488"/>
          </a:xfrm>
          <a:prstGeom prst="rect">
            <a:avLst/>
          </a:prstGeom>
          <a:noFill/>
          <a:ln/>
        </p:spPr>
        <p:txBody>
          <a:bodyPr wrap="square" lIns="0" tIns="0" rIns="0" bIns="0" rtlCol="0" anchor="ctr"/>
          <a:lstStyle/>
          <a:p>
            <a:pPr algn="ctr" indent="0" marL="0">
              <a:buNone/>
            </a:pPr>
            <a:r>
              <a:rPr lang="en-US" sz="950" dirty="0">
                <a:solidFill>
                  <a:srgbClr val="6B7280"/>
                </a:solidFill>
                <a:latin typeface="Yu Gothic" pitchFamily="34" charset="0"/>
                <a:ea typeface="Yu Gothic" pitchFamily="34" charset="-122"/>
                <a:cs typeface="Yu Gothic" pitchFamily="34" charset="-120"/>
              </a:rPr>
              <a:t>4月  </a:t>
            </a:r>
            <a:pPr algn="ctr" indent="0" marL="0">
              <a:buNone/>
            </a:pPr>
            <a:r>
              <a:rPr lang="en-US" sz="1100" b="1" dirty="0">
                <a:solidFill>
                  <a:srgbClr val="6B7280"/>
                </a:solidFill>
                <a:latin typeface="Yu Gothic" pitchFamily="34" charset="0"/>
                <a:ea typeface="Yu Gothic" pitchFamily="34" charset="-122"/>
                <a:cs typeface="Yu Gothic" pitchFamily="34" charset="-120"/>
              </a:rPr>
              <a:t>0名</a:t>
            </a:r>
            <a:endParaRPr lang="en-US" sz="950" dirty="0"/>
          </a:p>
        </p:txBody>
      </p:sp>
      <p:sp>
        <p:nvSpPr>
          <p:cNvPr id="21" name="Shape 18"/>
          <p:cNvSpPr/>
          <p:nvPr/>
        </p:nvSpPr>
        <p:spPr>
          <a:xfrm>
            <a:off x="8503920" y="4782312"/>
            <a:ext cx="960120" cy="475488"/>
          </a:xfrm>
          <a:prstGeom prst="roundRect">
            <a:avLst>
              <a:gd name="adj" fmla="val 9615"/>
            </a:avLst>
          </a:prstGeom>
          <a:solidFill>
            <a:srgbClr val="E8762C"/>
          </a:solidFill>
          <a:ln/>
        </p:spPr>
      </p:sp>
      <p:sp>
        <p:nvSpPr>
          <p:cNvPr id="22" name="Text 19"/>
          <p:cNvSpPr/>
          <p:nvPr/>
        </p:nvSpPr>
        <p:spPr>
          <a:xfrm>
            <a:off x="850392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5月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3" name="Shape 20"/>
          <p:cNvSpPr/>
          <p:nvPr/>
        </p:nvSpPr>
        <p:spPr>
          <a:xfrm>
            <a:off x="9601200" y="4782312"/>
            <a:ext cx="960120" cy="475488"/>
          </a:xfrm>
          <a:prstGeom prst="roundRect">
            <a:avLst>
              <a:gd name="adj" fmla="val 9615"/>
            </a:avLst>
          </a:prstGeom>
          <a:solidFill>
            <a:srgbClr val="E8762C"/>
          </a:solidFill>
          <a:ln/>
        </p:spPr>
      </p:sp>
      <p:sp>
        <p:nvSpPr>
          <p:cNvPr id="24" name="Text 21"/>
          <p:cNvSpPr/>
          <p:nvPr/>
        </p:nvSpPr>
        <p:spPr>
          <a:xfrm>
            <a:off x="960120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6月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5" name="Shape 22"/>
          <p:cNvSpPr/>
          <p:nvPr/>
        </p:nvSpPr>
        <p:spPr>
          <a:xfrm>
            <a:off x="10698480" y="4782312"/>
            <a:ext cx="960120" cy="475488"/>
          </a:xfrm>
          <a:prstGeom prst="roundRect">
            <a:avLst>
              <a:gd name="adj" fmla="val 9615"/>
            </a:avLst>
          </a:prstGeom>
          <a:solidFill>
            <a:srgbClr val="E8762C"/>
          </a:solidFill>
          <a:ln/>
        </p:spPr>
      </p:sp>
      <p:sp>
        <p:nvSpPr>
          <p:cNvPr id="26" name="Text 23"/>
          <p:cNvSpPr/>
          <p:nvPr/>
        </p:nvSpPr>
        <p:spPr>
          <a:xfrm>
            <a:off x="1069848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7月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7" name="Shape 24"/>
          <p:cNvSpPr/>
          <p:nvPr/>
        </p:nvSpPr>
        <p:spPr>
          <a:xfrm>
            <a:off x="6309360" y="5440680"/>
            <a:ext cx="5349240" cy="960120"/>
          </a:xfrm>
          <a:prstGeom prst="roundRect">
            <a:avLst>
              <a:gd name="adj" fmla="val 7619"/>
            </a:avLst>
          </a:prstGeom>
          <a:solidFill>
            <a:srgbClr val="FDF0E6"/>
          </a:solidFill>
          <a:ln/>
        </p:spPr>
      </p:sp>
      <p:sp>
        <p:nvSpPr>
          <p:cNvPr id="28" name="Text 25"/>
          <p:cNvSpPr/>
          <p:nvPr/>
        </p:nvSpPr>
        <p:spPr>
          <a:xfrm>
            <a:off x="6537960" y="5559552"/>
            <a:ext cx="4892040" cy="77724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応募者の67%(12名中8名)が20〜30代。</a:t>
            </a:r>
            <a:pPr indent="0" marL="0">
              <a:buNone/>
            </a:pPr>
            <a:r>
              <a:rPr lang="en-US" sz="1100" dirty="0">
                <a:solidFill>
                  <a:srgbClr val="374151"/>
                </a:solidFill>
                <a:latin typeface="Yu Gothic" pitchFamily="34" charset="0"/>
                <a:ea typeface="Yu Gothic" pitchFamily="34" charset="-122"/>
                <a:cs typeface="Yu Gothic" pitchFamily="34" charset="-120"/>
              </a:rPr>
              <a:t>毎月2名ペースでターゲット年代の応募が継続しており、「若手に届く求人」への転換が数字で確認できます。</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選考移行率の現在地と課題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応募は生まれましたが、選考への移行が壁 ─ ここが次の主戦場です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11</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選考ファネル(2026年3〜7月・実人数ベース)</a:t>
            </a:r>
            <a:endParaRPr lang="en-US" sz="1400" dirty="0"/>
          </a:p>
        </p:txBody>
      </p:sp>
      <p:sp>
        <p:nvSpPr>
          <p:cNvPr id="6" name="Shape 4"/>
          <p:cNvSpPr/>
          <p:nvPr/>
        </p:nvSpPr>
        <p:spPr>
          <a:xfrm>
            <a:off x="548640" y="2103120"/>
            <a:ext cx="5394960" cy="603504"/>
          </a:xfrm>
          <a:prstGeom prst="roundRect">
            <a:avLst>
              <a:gd name="adj" fmla="val 9091"/>
            </a:avLst>
          </a:prstGeom>
          <a:solidFill>
            <a:srgbClr val="1B3A5C"/>
          </a:solidFill>
          <a:ln/>
        </p:spPr>
      </p:sp>
      <p:sp>
        <p:nvSpPr>
          <p:cNvPr id="7" name="Text 5"/>
          <p:cNvSpPr/>
          <p:nvPr/>
        </p:nvSpPr>
        <p:spPr>
          <a:xfrm>
            <a:off x="731520" y="2103120"/>
            <a:ext cx="51206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応募  </a:t>
            </a:r>
            <a:pPr indent="0" marL="0">
              <a:buNone/>
            </a:pPr>
            <a:r>
              <a:rPr lang="en-US" sz="1150" dirty="0">
                <a:solidFill>
                  <a:srgbClr val="FFFFFF"/>
                </a:solidFill>
                <a:latin typeface="Yu Gothic" pitchFamily="34" charset="0"/>
                <a:ea typeface="Yu Gothic" pitchFamily="34" charset="-122"/>
                <a:cs typeface="Yu Gothic" pitchFamily="34" charset="-120"/>
              </a:rPr>
              <a:t>12名(うち20〜30代8名)</a:t>
            </a:r>
            <a:endParaRPr lang="en-US" sz="1150" dirty="0"/>
          </a:p>
        </p:txBody>
      </p:sp>
      <p:sp>
        <p:nvSpPr>
          <p:cNvPr id="8" name="Shape 6"/>
          <p:cNvSpPr/>
          <p:nvPr/>
        </p:nvSpPr>
        <p:spPr>
          <a:xfrm>
            <a:off x="548640" y="2816352"/>
            <a:ext cx="4114800" cy="603504"/>
          </a:xfrm>
          <a:prstGeom prst="roundRect">
            <a:avLst>
              <a:gd name="adj" fmla="val 9091"/>
            </a:avLst>
          </a:prstGeom>
          <a:solidFill>
            <a:srgbClr val="E8762C"/>
          </a:solidFill>
          <a:ln/>
        </p:spPr>
      </p:sp>
      <p:sp>
        <p:nvSpPr>
          <p:cNvPr id="9" name="Text 7"/>
          <p:cNvSpPr/>
          <p:nvPr/>
        </p:nvSpPr>
        <p:spPr>
          <a:xfrm>
            <a:off x="731520" y="2816352"/>
            <a:ext cx="384048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説明会・選考ヒアリングへ移行  </a:t>
            </a:r>
            <a:pPr indent="0" marL="0">
              <a:buNone/>
            </a:pPr>
            <a:r>
              <a:rPr lang="en-US" sz="1150" dirty="0">
                <a:solidFill>
                  <a:srgbClr val="FFFFFF"/>
                </a:solidFill>
                <a:latin typeface="Yu Gothic" pitchFamily="34" charset="0"/>
                <a:ea typeface="Yu Gothic" pitchFamily="34" charset="-122"/>
                <a:cs typeface="Yu Gothic" pitchFamily="34" charset="-120"/>
              </a:rPr>
              <a:t>3名</a:t>
            </a:r>
            <a:endParaRPr lang="en-US" sz="1150" dirty="0"/>
          </a:p>
        </p:txBody>
      </p:sp>
      <p:sp>
        <p:nvSpPr>
          <p:cNvPr id="10" name="Text 8"/>
          <p:cNvSpPr/>
          <p:nvPr/>
        </p:nvSpPr>
        <p:spPr>
          <a:xfrm>
            <a:off x="4800600" y="2816352"/>
            <a:ext cx="1463040" cy="603504"/>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移行率 25%</a:t>
            </a:r>
            <a:endParaRPr lang="en-US" sz="1050" dirty="0"/>
          </a:p>
        </p:txBody>
      </p:sp>
      <p:sp>
        <p:nvSpPr>
          <p:cNvPr id="11" name="Shape 9"/>
          <p:cNvSpPr/>
          <p:nvPr/>
        </p:nvSpPr>
        <p:spPr>
          <a:xfrm>
            <a:off x="548640" y="3529584"/>
            <a:ext cx="2834640" cy="603504"/>
          </a:xfrm>
          <a:prstGeom prst="roundRect">
            <a:avLst>
              <a:gd name="adj" fmla="val 9091"/>
            </a:avLst>
          </a:prstGeom>
          <a:solidFill>
            <a:srgbClr val="5A7A99"/>
          </a:solidFill>
          <a:ln/>
        </p:spPr>
      </p:sp>
      <p:sp>
        <p:nvSpPr>
          <p:cNvPr id="12" name="Text 10"/>
          <p:cNvSpPr/>
          <p:nvPr/>
        </p:nvSpPr>
        <p:spPr>
          <a:xfrm>
            <a:off x="731520" y="3529584"/>
            <a:ext cx="256032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書類選考通過(有効応募)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3" name="Text 11"/>
          <p:cNvSpPr/>
          <p:nvPr/>
        </p:nvSpPr>
        <p:spPr>
          <a:xfrm>
            <a:off x="3520440" y="3529584"/>
            <a:ext cx="1463040" cy="603504"/>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移行率 0%</a:t>
            </a:r>
            <a:endParaRPr lang="en-US" sz="1050" dirty="0"/>
          </a:p>
        </p:txBody>
      </p:sp>
      <p:sp>
        <p:nvSpPr>
          <p:cNvPr id="14" name="Shape 12"/>
          <p:cNvSpPr/>
          <p:nvPr/>
        </p:nvSpPr>
        <p:spPr>
          <a:xfrm>
            <a:off x="548640" y="4242816"/>
            <a:ext cx="2194560" cy="603504"/>
          </a:xfrm>
          <a:prstGeom prst="roundRect">
            <a:avLst>
              <a:gd name="adj" fmla="val 9091"/>
            </a:avLst>
          </a:prstGeom>
          <a:solidFill>
            <a:srgbClr val="5A7A99"/>
          </a:solidFill>
          <a:ln/>
        </p:spPr>
      </p:sp>
      <p:sp>
        <p:nvSpPr>
          <p:cNvPr id="15" name="Text 13"/>
          <p:cNvSpPr/>
          <p:nvPr/>
        </p:nvSpPr>
        <p:spPr>
          <a:xfrm>
            <a:off x="731520" y="4242816"/>
            <a:ext cx="19202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1次面接・入社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6" name="Text 14"/>
          <p:cNvSpPr/>
          <p:nvPr/>
        </p:nvSpPr>
        <p:spPr>
          <a:xfrm>
            <a:off x="548640" y="4974336"/>
            <a:ext cx="5669280" cy="45720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対応中: 説明会誘導中1名(36歳)・選考/説明会ヒアリング中2名(23歳・53歳) ※8月継続対応</a:t>
            </a:r>
            <a:endParaRPr lang="en-US" sz="1000" dirty="0"/>
          </a:p>
        </p:txBody>
      </p:sp>
      <p:sp>
        <p:nvSpPr>
          <p:cNvPr id="17" name="Shape 15"/>
          <p:cNvSpPr/>
          <p:nvPr/>
        </p:nvSpPr>
        <p:spPr>
          <a:xfrm>
            <a:off x="548640" y="5532120"/>
            <a:ext cx="5577840" cy="914400"/>
          </a:xfrm>
          <a:prstGeom prst="roundRect">
            <a:avLst>
              <a:gd name="adj" fmla="val 8000"/>
            </a:avLst>
          </a:prstGeom>
          <a:solidFill>
            <a:srgbClr val="FDF0E6"/>
          </a:solidFill>
          <a:ln/>
        </p:spPr>
      </p:sp>
      <p:sp>
        <p:nvSpPr>
          <p:cNvPr id="18" name="Text 16"/>
          <p:cNvSpPr/>
          <p:nvPr/>
        </p:nvSpPr>
        <p:spPr>
          <a:xfrm>
            <a:off x="777240" y="5650992"/>
            <a:ext cx="5120640" cy="73152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20〜30代8名のうち選考対応が継続できているのは1名(23歳)。</a:t>
            </a:r>
            <a:pPr indent="0" marL="0">
              <a:buNone/>
            </a:pPr>
            <a:r>
              <a:rPr lang="en-US" sz="1100" dirty="0">
                <a:solidFill>
                  <a:srgbClr val="374151"/>
                </a:solidFill>
                <a:latin typeface="Yu Gothic" pitchFamily="34" charset="0"/>
                <a:ea typeface="Yu Gothic" pitchFamily="34" charset="-122"/>
                <a:cs typeface="Yu Gothic" pitchFamily="34" charset="-120"/>
              </a:rPr>
              <a:t>応募獲得の次は「つながり続ける仕組み」が成果の鍵です。</a:t>
            </a:r>
            <a:endParaRPr lang="en-US" sz="1100" dirty="0"/>
          </a:p>
        </p:txBody>
      </p:sp>
      <p:sp>
        <p:nvSpPr>
          <p:cNvPr id="19" name="Text 17"/>
          <p:cNvSpPr/>
          <p:nvPr/>
        </p:nvSpPr>
        <p:spPr>
          <a:xfrm>
            <a:off x="6537960" y="1600200"/>
            <a:ext cx="512064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移行を阻んだ3つの要因</a:t>
            </a:r>
            <a:endParaRPr lang="en-US" sz="1400" dirty="0"/>
          </a:p>
        </p:txBody>
      </p:sp>
      <p:sp>
        <p:nvSpPr>
          <p:cNvPr id="20" name="Shape 18"/>
          <p:cNvSpPr/>
          <p:nvPr/>
        </p:nvSpPr>
        <p:spPr>
          <a:xfrm>
            <a:off x="6537960" y="2029968"/>
            <a:ext cx="384048" cy="384048"/>
          </a:xfrm>
          <a:prstGeom prst="ellipse">
            <a:avLst/>
          </a:prstGeom>
          <a:solidFill>
            <a:srgbClr val="5A7A99"/>
          </a:solidFill>
          <a:ln/>
        </p:spPr>
      </p:sp>
      <p:sp>
        <p:nvSpPr>
          <p:cNvPr id="21" name="Text 19"/>
          <p:cNvSpPr/>
          <p:nvPr/>
        </p:nvSpPr>
        <p:spPr>
          <a:xfrm>
            <a:off x="653796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2" name="Text 20"/>
          <p:cNvSpPr/>
          <p:nvPr/>
        </p:nvSpPr>
        <p:spPr>
          <a:xfrm>
            <a:off x="7059168" y="1965960"/>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20代前半の連絡途絶  </a:t>
            </a:r>
            <a:pPr indent="0" marL="0">
              <a:buNone/>
            </a:pPr>
            <a:r>
              <a:rPr lang="en-US" sz="1100" dirty="0">
                <a:solidFill>
                  <a:srgbClr val="374151"/>
                </a:solidFill>
                <a:latin typeface="Yu Gothic" pitchFamily="34" charset="0"/>
                <a:ea typeface="Yu Gothic" pitchFamily="34" charset="-122"/>
                <a:cs typeface="Yu Gothic" pitchFamily="34" charset="-120"/>
              </a:rPr>
              <a:t>メールを見ない・返信が途切れる傾向(21歳は書類依頼後に連絡なし)。若手ほど発生しやすい</a:t>
            </a:r>
            <a:endParaRPr lang="en-US" sz="1100" dirty="0"/>
          </a:p>
        </p:txBody>
      </p:sp>
      <p:sp>
        <p:nvSpPr>
          <p:cNvPr id="23" name="Shape 21"/>
          <p:cNvSpPr/>
          <p:nvPr/>
        </p:nvSpPr>
        <p:spPr>
          <a:xfrm>
            <a:off x="6537960" y="2871216"/>
            <a:ext cx="384048" cy="384048"/>
          </a:xfrm>
          <a:prstGeom prst="ellipse">
            <a:avLst/>
          </a:prstGeom>
          <a:solidFill>
            <a:srgbClr val="5A7A99"/>
          </a:solidFill>
          <a:ln/>
        </p:spPr>
      </p:sp>
      <p:sp>
        <p:nvSpPr>
          <p:cNvPr id="24" name="Text 22"/>
          <p:cNvSpPr/>
          <p:nvPr/>
        </p:nvSpPr>
        <p:spPr>
          <a:xfrm>
            <a:off x="6537960" y="28666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5" name="Text 23"/>
          <p:cNvSpPr/>
          <p:nvPr/>
        </p:nvSpPr>
        <p:spPr>
          <a:xfrm>
            <a:off x="7059168" y="2807208"/>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ターゲット外応募の混在  </a:t>
            </a:r>
            <a:pPr indent="0" marL="0">
              <a:buNone/>
            </a:pPr>
            <a:r>
              <a:rPr lang="en-US" sz="1100" dirty="0">
                <a:solidFill>
                  <a:srgbClr val="374151"/>
                </a:solidFill>
                <a:latin typeface="Yu Gothic" pitchFamily="34" charset="0"/>
                <a:ea typeface="Yu Gothic" pitchFamily="34" charset="-122"/>
                <a:cs typeface="Yu Gothic" pitchFamily="34" charset="-120"/>
              </a:rPr>
              <a:t>77歳×2・53歳・48歳など、応募12名のうち4名(33%)がターゲット外。お断り対応が負担に</a:t>
            </a:r>
            <a:endParaRPr lang="en-US" sz="1100" dirty="0"/>
          </a:p>
        </p:txBody>
      </p:sp>
      <p:sp>
        <p:nvSpPr>
          <p:cNvPr id="26" name="Shape 24"/>
          <p:cNvSpPr/>
          <p:nvPr/>
        </p:nvSpPr>
        <p:spPr>
          <a:xfrm>
            <a:off x="6537960" y="3712464"/>
            <a:ext cx="384048" cy="384048"/>
          </a:xfrm>
          <a:prstGeom prst="ellipse">
            <a:avLst/>
          </a:prstGeom>
          <a:solidFill>
            <a:srgbClr val="5A7A99"/>
          </a:solidFill>
          <a:ln/>
        </p:spPr>
      </p:sp>
      <p:sp>
        <p:nvSpPr>
          <p:cNvPr id="27" name="Text 25"/>
          <p:cNvSpPr/>
          <p:nvPr/>
        </p:nvSpPr>
        <p:spPr>
          <a:xfrm>
            <a:off x="6537960" y="37078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8" name="Text 26"/>
          <p:cNvSpPr/>
          <p:nvPr/>
        </p:nvSpPr>
        <p:spPr>
          <a:xfrm>
            <a:off x="7059168" y="3648456"/>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スカウト承認後の音信不通  </a:t>
            </a:r>
            <a:pPr indent="0" marL="0">
              <a:buNone/>
            </a:pPr>
            <a:r>
              <a:rPr lang="en-US" sz="1100" dirty="0">
                <a:solidFill>
                  <a:srgbClr val="374151"/>
                </a:solidFill>
                <a:latin typeface="Yu Gothic" pitchFamily="34" charset="0"/>
                <a:ea typeface="Yu Gothic" pitchFamily="34" charset="-122"/>
                <a:cs typeface="Yu Gothic" pitchFamily="34" charset="-120"/>
              </a:rPr>
              <a:t>説明会誘導後にSMS既読が付かないケース(36歳)。接点の維持が課題</a:t>
            </a:r>
            <a:endParaRPr lang="en-US" sz="1100" dirty="0"/>
          </a:p>
        </p:txBody>
      </p:sp>
      <p:sp>
        <p:nvSpPr>
          <p:cNvPr id="29" name="Shape 27"/>
          <p:cNvSpPr/>
          <p:nvPr/>
        </p:nvSpPr>
        <p:spPr>
          <a:xfrm>
            <a:off x="6537960" y="4617720"/>
            <a:ext cx="5120640" cy="1828800"/>
          </a:xfrm>
          <a:prstGeom prst="roundRect">
            <a:avLst>
              <a:gd name="adj" fmla="val 4000"/>
            </a:avLst>
          </a:prstGeom>
          <a:solidFill>
            <a:srgbClr val="F2F6FA"/>
          </a:solidFill>
          <a:ln/>
        </p:spPr>
      </p:sp>
      <p:sp>
        <p:nvSpPr>
          <p:cNvPr id="30" name="Text 28"/>
          <p:cNvSpPr/>
          <p:nvPr/>
        </p:nvSpPr>
        <p:spPr>
          <a:xfrm>
            <a:off x="6766560" y="4754880"/>
            <a:ext cx="4663440" cy="320040"/>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実施済みの対応</a:t>
            </a:r>
            <a:endParaRPr lang="en-US" sz="1250" dirty="0"/>
          </a:p>
        </p:txBody>
      </p:sp>
      <p:sp>
        <p:nvSpPr>
          <p:cNvPr id="31" name="Text 29"/>
          <p:cNvSpPr/>
          <p:nvPr/>
        </p:nvSpPr>
        <p:spPr>
          <a:xfrm>
            <a:off x="6766560" y="5120640"/>
            <a:ext cx="4709160" cy="123444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連絡順序を「固定電話→SMS」に変更(若手はメールを見ないため)</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応募者をSMS・電話でオンライン説明会(顔出しなし)へ誘導</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LINE公式アカウントで若手が返信しやすい接点を追加</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課題認識 ─ 3つの構造的課題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9ヶ月の検証から見えた、次のステージで乗り越えるべき壁</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12</a:t>
            </a:r>
            <a:endParaRPr lang="en-US" sz="1600" dirty="0"/>
          </a:p>
        </p:txBody>
      </p:sp>
      <p:sp>
        <p:nvSpPr>
          <p:cNvPr id="5" name="Shape 3"/>
          <p:cNvSpPr/>
          <p:nvPr/>
        </p:nvSpPr>
        <p:spPr>
          <a:xfrm>
            <a:off x="548640" y="1645920"/>
            <a:ext cx="3566160" cy="4754880"/>
          </a:xfrm>
          <a:prstGeom prst="roundRect">
            <a:avLst>
              <a:gd name="adj" fmla="val 2564"/>
            </a:avLst>
          </a:prstGeom>
          <a:solidFill>
            <a:srgbClr val="F2F6FA"/>
          </a:solidFill>
          <a:ln/>
        </p:spPr>
      </p:sp>
      <p:sp>
        <p:nvSpPr>
          <p:cNvPr id="6" name="Shape 4"/>
          <p:cNvSpPr/>
          <p:nvPr/>
        </p:nvSpPr>
        <p:spPr>
          <a:xfrm>
            <a:off x="804672" y="1874520"/>
            <a:ext cx="384048" cy="384048"/>
          </a:xfrm>
          <a:prstGeom prst="ellipse">
            <a:avLst/>
          </a:prstGeom>
          <a:solidFill>
            <a:srgbClr val="1B3A5C"/>
          </a:solidFill>
          <a:ln/>
        </p:spPr>
      </p:sp>
      <p:sp>
        <p:nvSpPr>
          <p:cNvPr id="7" name="Text 5"/>
          <p:cNvSpPr/>
          <p:nvPr/>
        </p:nvSpPr>
        <p:spPr>
          <a:xfrm>
            <a:off x="804672"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325880"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経験者・関連業種の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人材不足</a:t>
            </a:r>
            <a:endParaRPr lang="en-US" sz="1350" dirty="0"/>
          </a:p>
        </p:txBody>
      </p:sp>
      <p:sp>
        <p:nvSpPr>
          <p:cNvPr id="9" name="Text 7"/>
          <p:cNvSpPr/>
          <p:nvPr/>
        </p:nvSpPr>
        <p:spPr>
          <a:xfrm>
            <a:off x="822960"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配管工の経験者がそもそも市場に少ない構造的制約。経験者向け求人は表示は伸びるものの応募に繋がらず、スカウトの対象母数も枯渇(22〜39歳・通勤30分圏で残0名)。</a:t>
            </a:r>
            <a:endParaRPr lang="en-US" sz="1050" dirty="0"/>
          </a:p>
        </p:txBody>
      </p:sp>
      <p:sp>
        <p:nvSpPr>
          <p:cNvPr id="10" name="Shape 8"/>
          <p:cNvSpPr/>
          <p:nvPr/>
        </p:nvSpPr>
        <p:spPr>
          <a:xfrm>
            <a:off x="822960" y="4617720"/>
            <a:ext cx="3017520" cy="1554480"/>
          </a:xfrm>
          <a:prstGeom prst="roundRect">
            <a:avLst>
              <a:gd name="adj" fmla="val 3529"/>
            </a:avLst>
          </a:prstGeom>
          <a:solidFill>
            <a:srgbClr val="1B3A5C"/>
          </a:solidFill>
          <a:ln/>
        </p:spPr>
      </p:sp>
      <p:sp>
        <p:nvSpPr>
          <p:cNvPr id="11" name="Text 9"/>
          <p:cNvSpPr/>
          <p:nvPr/>
        </p:nvSpPr>
        <p:spPr>
          <a:xfrm>
            <a:off x="1005840"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周辺の電気工事業種では応募・採用実績が出ており、職種による市場規模の差が大きい。→ 未経験×20・30代への注力が合理的</a:t>
            </a:r>
            <a:endParaRPr lang="en-US" sz="1000" dirty="0"/>
          </a:p>
        </p:txBody>
      </p:sp>
      <p:sp>
        <p:nvSpPr>
          <p:cNvPr id="12" name="Shape 10"/>
          <p:cNvSpPr/>
          <p:nvPr/>
        </p:nvSpPr>
        <p:spPr>
          <a:xfrm>
            <a:off x="4379976" y="1645920"/>
            <a:ext cx="3566160" cy="4754880"/>
          </a:xfrm>
          <a:prstGeom prst="roundRect">
            <a:avLst>
              <a:gd name="adj" fmla="val 2564"/>
            </a:avLst>
          </a:prstGeom>
          <a:solidFill>
            <a:srgbClr val="F2F6FA"/>
          </a:solidFill>
          <a:ln/>
        </p:spPr>
      </p:sp>
      <p:sp>
        <p:nvSpPr>
          <p:cNvPr id="13" name="Shape 11"/>
          <p:cNvSpPr/>
          <p:nvPr/>
        </p:nvSpPr>
        <p:spPr>
          <a:xfrm>
            <a:off x="4636008" y="1874520"/>
            <a:ext cx="384048" cy="384048"/>
          </a:xfrm>
          <a:prstGeom prst="ellipse">
            <a:avLst/>
          </a:prstGeom>
          <a:solidFill>
            <a:srgbClr val="1B3A5C"/>
          </a:solidFill>
          <a:ln/>
        </p:spPr>
      </p:sp>
      <p:sp>
        <p:nvSpPr>
          <p:cNvPr id="14" name="Text 12"/>
          <p:cNvSpPr/>
          <p:nvPr/>
        </p:nvSpPr>
        <p:spPr>
          <a:xfrm>
            <a:off x="4636008"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157216"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未経験・20/30代に対する</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情報の透明性不足</a:t>
            </a:r>
            <a:endParaRPr lang="en-US" sz="1350" dirty="0"/>
          </a:p>
        </p:txBody>
      </p:sp>
      <p:sp>
        <p:nvSpPr>
          <p:cNvPr id="16" name="Text 14"/>
          <p:cNvSpPr/>
          <p:nvPr/>
        </p:nvSpPr>
        <p:spPr>
          <a:xfrm>
            <a:off x="4654296"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求人を入口に興味を持った求職者が、裏付けを取りに複数媒体を見に行っても松下工業の情報がない(口コミなし・採用サイトなし)。Xは尖った発信のため、未経験者が求める情報が不在。</a:t>
            </a:r>
            <a:endParaRPr lang="en-US" sz="1050" dirty="0"/>
          </a:p>
        </p:txBody>
      </p:sp>
      <p:sp>
        <p:nvSpPr>
          <p:cNvPr id="17" name="Shape 15"/>
          <p:cNvSpPr/>
          <p:nvPr/>
        </p:nvSpPr>
        <p:spPr>
          <a:xfrm>
            <a:off x="4654296" y="4617720"/>
            <a:ext cx="3017520" cy="1554480"/>
          </a:xfrm>
          <a:prstGeom prst="roundRect">
            <a:avLst>
              <a:gd name="adj" fmla="val 3529"/>
            </a:avLst>
          </a:prstGeom>
          <a:solidFill>
            <a:srgbClr val="1B3A5C"/>
          </a:solidFill>
          <a:ln/>
        </p:spPr>
      </p:sp>
      <p:sp>
        <p:nvSpPr>
          <p:cNvPr id="18" name="Text 16"/>
          <p:cNvSpPr/>
          <p:nvPr/>
        </p:nvSpPr>
        <p:spPr>
          <a:xfrm>
            <a:off x="4837176"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「働き方」「業務内容」「どんな人が働いているか」の情報がなく、応募の一歩手前で離脱。→ 採用HPリニューアル+Instagram発信の拡充</a:t>
            </a:r>
            <a:endParaRPr lang="en-US" sz="1000" dirty="0"/>
          </a:p>
        </p:txBody>
      </p:sp>
      <p:sp>
        <p:nvSpPr>
          <p:cNvPr id="19" name="Shape 17"/>
          <p:cNvSpPr/>
          <p:nvPr/>
        </p:nvSpPr>
        <p:spPr>
          <a:xfrm>
            <a:off x="8211312" y="1645920"/>
            <a:ext cx="3566160" cy="4754880"/>
          </a:xfrm>
          <a:prstGeom prst="roundRect">
            <a:avLst>
              <a:gd name="adj" fmla="val 2564"/>
            </a:avLst>
          </a:prstGeom>
          <a:solidFill>
            <a:srgbClr val="F2F6FA"/>
          </a:solidFill>
          <a:ln/>
        </p:spPr>
      </p:sp>
      <p:sp>
        <p:nvSpPr>
          <p:cNvPr id="20" name="Shape 18"/>
          <p:cNvSpPr/>
          <p:nvPr/>
        </p:nvSpPr>
        <p:spPr>
          <a:xfrm>
            <a:off x="8467344" y="1874520"/>
            <a:ext cx="384048" cy="384048"/>
          </a:xfrm>
          <a:prstGeom prst="ellipse">
            <a:avLst/>
          </a:prstGeom>
          <a:solidFill>
            <a:srgbClr val="1B3A5C"/>
          </a:solidFill>
          <a:ln/>
        </p:spPr>
      </p:sp>
      <p:sp>
        <p:nvSpPr>
          <p:cNvPr id="21" name="Text 19"/>
          <p:cNvSpPr/>
          <p:nvPr/>
        </p:nvSpPr>
        <p:spPr>
          <a:xfrm>
            <a:off x="8467344"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8988552"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求職者との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直接接点の不足</a:t>
            </a:r>
            <a:endParaRPr lang="en-US" sz="1350" dirty="0"/>
          </a:p>
        </p:txBody>
      </p:sp>
      <p:sp>
        <p:nvSpPr>
          <p:cNvPr id="23" name="Text 21"/>
          <p:cNvSpPr/>
          <p:nvPr/>
        </p:nvSpPr>
        <p:spPr>
          <a:xfrm>
            <a:off x="8485632"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情報の不透明性を補うには、求職者と直接交流して不安を解消することが不可欠。自社集客の説明会は集客に苦戦(申込0〜1名)しており、自前の集客力だけでは接点をつくれない。</a:t>
            </a:r>
            <a:endParaRPr lang="en-US" sz="1050" dirty="0"/>
          </a:p>
        </p:txBody>
      </p:sp>
      <p:sp>
        <p:nvSpPr>
          <p:cNvPr id="24" name="Shape 22"/>
          <p:cNvSpPr/>
          <p:nvPr/>
        </p:nvSpPr>
        <p:spPr>
          <a:xfrm>
            <a:off x="8485632" y="4617720"/>
            <a:ext cx="3017520" cy="1554480"/>
          </a:xfrm>
          <a:prstGeom prst="roundRect">
            <a:avLst>
              <a:gd name="adj" fmla="val 3529"/>
            </a:avLst>
          </a:prstGeom>
          <a:solidFill>
            <a:srgbClr val="1B3A5C"/>
          </a:solidFill>
          <a:ln/>
        </p:spPr>
      </p:sp>
      <p:sp>
        <p:nvSpPr>
          <p:cNvPr id="25" name="Text 23"/>
          <p:cNvSpPr/>
          <p:nvPr/>
        </p:nvSpPr>
        <p:spPr>
          <a:xfrm>
            <a:off x="8668512"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他社が集客するイベントの活用が必要。→ ハローワーク説明会・マイナビ等の合同説明会への参加</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課題① 経験者・関連業種の人材不足</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配管工の経験者採用は「母数」の壁 ─ 待つ採用では出会えない市場</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13</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9ヶ月の検証で確認された事実</a:t>
            </a:r>
            <a:endParaRPr lang="en-US" sz="1400" dirty="0"/>
          </a:p>
        </p:txBody>
      </p:sp>
      <p:sp>
        <p:nvSpPr>
          <p:cNvPr id="6" name="Shape 4"/>
          <p:cNvSpPr/>
          <p:nvPr/>
        </p:nvSpPr>
        <p:spPr>
          <a:xfrm>
            <a:off x="548640" y="2011680"/>
            <a:ext cx="5577840" cy="1234440"/>
          </a:xfrm>
          <a:prstGeom prst="roundRect">
            <a:avLst>
              <a:gd name="adj" fmla="val 5926"/>
            </a:avLst>
          </a:prstGeom>
          <a:solidFill>
            <a:srgbClr val="F2F6FA"/>
          </a:solidFill>
          <a:ln/>
        </p:spPr>
      </p:sp>
      <p:sp>
        <p:nvSpPr>
          <p:cNvPr id="7" name="Text 5"/>
          <p:cNvSpPr/>
          <p:nvPr/>
        </p:nvSpPr>
        <p:spPr>
          <a:xfrm>
            <a:off x="777240" y="21305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経験者向け求人は応募ゼロ</a:t>
            </a:r>
            <a:endParaRPr lang="en-US" sz="1250" dirty="0"/>
          </a:p>
        </p:txBody>
      </p:sp>
      <p:sp>
        <p:nvSpPr>
          <p:cNvPr id="8" name="Text 6"/>
          <p:cNvSpPr/>
          <p:nvPr/>
        </p:nvSpPr>
        <p:spPr>
          <a:xfrm>
            <a:off x="777240" y="24505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表示は伸びる(321件/週)ものの応募開始0件。CTR16.7%と関心はあるが、転職顕在層が現れない(4月検証)</a:t>
            </a:r>
            <a:endParaRPr lang="en-US" sz="1050" dirty="0"/>
          </a:p>
        </p:txBody>
      </p:sp>
      <p:sp>
        <p:nvSpPr>
          <p:cNvPr id="9" name="Shape 7"/>
          <p:cNvSpPr/>
          <p:nvPr/>
        </p:nvSpPr>
        <p:spPr>
          <a:xfrm>
            <a:off x="548640" y="3383280"/>
            <a:ext cx="5577840" cy="1234440"/>
          </a:xfrm>
          <a:prstGeom prst="roundRect">
            <a:avLst>
              <a:gd name="adj" fmla="val 5926"/>
            </a:avLst>
          </a:prstGeom>
          <a:solidFill>
            <a:srgbClr val="F2F6FA"/>
          </a:solidFill>
          <a:ln/>
        </p:spPr>
      </p:sp>
      <p:sp>
        <p:nvSpPr>
          <p:cNvPr id="10" name="Text 8"/>
          <p:cNvSpPr/>
          <p:nvPr/>
        </p:nvSpPr>
        <p:spPr>
          <a:xfrm>
            <a:off x="777240" y="35021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スカウト対象母数の枯渇</a:t>
            </a:r>
            <a:endParaRPr lang="en-US" sz="1250" dirty="0"/>
          </a:p>
        </p:txBody>
      </p:sp>
      <p:sp>
        <p:nvSpPr>
          <p:cNvPr id="11" name="Text 9"/>
          <p:cNvSpPr/>
          <p:nvPr/>
        </p:nvSpPr>
        <p:spPr>
          <a:xfrm>
            <a:off x="777240" y="38221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ヤギオファーで22〜39歳・通勤30分圏の対象者が残0名に(6月)。新規登録も1日1〜4名と細い</a:t>
            </a:r>
            <a:endParaRPr lang="en-US" sz="1050" dirty="0"/>
          </a:p>
        </p:txBody>
      </p:sp>
      <p:sp>
        <p:nvSpPr>
          <p:cNvPr id="12" name="Shape 10"/>
          <p:cNvSpPr/>
          <p:nvPr/>
        </p:nvSpPr>
        <p:spPr>
          <a:xfrm>
            <a:off x="548640" y="4754880"/>
            <a:ext cx="5577840" cy="1234440"/>
          </a:xfrm>
          <a:prstGeom prst="roundRect">
            <a:avLst>
              <a:gd name="adj" fmla="val 5926"/>
            </a:avLst>
          </a:prstGeom>
          <a:solidFill>
            <a:srgbClr val="F2F6FA"/>
          </a:solidFill>
          <a:ln/>
        </p:spPr>
      </p:sp>
      <p:sp>
        <p:nvSpPr>
          <p:cNvPr id="13" name="Text 11"/>
          <p:cNvSpPr/>
          <p:nvPr/>
        </p:nvSpPr>
        <p:spPr>
          <a:xfrm>
            <a:off x="777240" y="48737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富山の採用難易度は最高水準</a:t>
            </a:r>
            <a:endParaRPr lang="en-US" sz="1250" dirty="0"/>
          </a:p>
        </p:txBody>
      </p:sp>
      <p:sp>
        <p:nvSpPr>
          <p:cNvPr id="14" name="Text 12"/>
          <p:cNvSpPr/>
          <p:nvPr/>
        </p:nvSpPr>
        <p:spPr>
          <a:xfrm>
            <a:off x="777240" y="51937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「配管工」の求人難易度スコアは99(100が最難)。検索する求職者自体が少ない(206名/月)</a:t>
            </a:r>
            <a:endParaRPr lang="en-US" sz="1050" dirty="0"/>
          </a:p>
        </p:txBody>
      </p:sp>
      <p:sp>
        <p:nvSpPr>
          <p:cNvPr id="15" name="Text 13"/>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周辺業種との比較が示すもの</a:t>
            </a:r>
            <a:endParaRPr lang="en-US" sz="1400" dirty="0"/>
          </a:p>
        </p:txBody>
      </p:sp>
      <p:sp>
        <p:nvSpPr>
          <p:cNvPr id="16" name="Shape 14"/>
          <p:cNvSpPr/>
          <p:nvPr/>
        </p:nvSpPr>
        <p:spPr>
          <a:xfrm>
            <a:off x="6492240" y="2011680"/>
            <a:ext cx="5166360" cy="1828800"/>
          </a:xfrm>
          <a:prstGeom prst="roundRect">
            <a:avLst>
              <a:gd name="adj" fmla="val 4000"/>
            </a:avLst>
          </a:prstGeom>
          <a:solidFill>
            <a:srgbClr val="F2F6FA"/>
          </a:solidFill>
          <a:ln/>
        </p:spPr>
      </p:sp>
      <p:sp>
        <p:nvSpPr>
          <p:cNvPr id="17" name="Text 15"/>
          <p:cNvSpPr/>
          <p:nvPr/>
        </p:nvSpPr>
        <p:spPr>
          <a:xfrm>
            <a:off x="6720840" y="2148840"/>
            <a:ext cx="4709160" cy="155448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電気工事(周辺企業)では応募・採用実績あり
</a:t>
            </a:r>
            <a:pPr indent="0" marL="0">
              <a:buNone/>
            </a:pPr>
            <a:r>
              <a:rPr lang="en-US" sz="1050" dirty="0">
                <a:solidFill>
                  <a:srgbClr val="374151"/>
                </a:solidFill>
                <a:latin typeface="Yu Gothic" pitchFamily="34" charset="0"/>
                <a:ea typeface="Yu Gothic" pitchFamily="34" charset="-122"/>
                <a:cs typeface="Yu Gothic" pitchFamily="34" charset="-120"/>
              </a:rPr>
              <a:t>同じ建設系でも、電気工事の支援先では相応の応募数・採用数が出ています。配管工との差は施策の巧拙ではなく、職種ごとの求職者人口の差 ─ つまり市場の構造要因です。</a:t>
            </a:r>
            <a:endParaRPr lang="en-US" sz="1250" dirty="0"/>
          </a:p>
        </p:txBody>
      </p:sp>
      <p:sp>
        <p:nvSpPr>
          <p:cNvPr id="18" name="Shape 16"/>
          <p:cNvSpPr/>
          <p:nvPr/>
        </p:nvSpPr>
        <p:spPr>
          <a:xfrm>
            <a:off x="6492240" y="4023360"/>
            <a:ext cx="5166360" cy="2057400"/>
          </a:xfrm>
          <a:prstGeom prst="roundRect">
            <a:avLst>
              <a:gd name="adj" fmla="val 3556"/>
            </a:avLst>
          </a:prstGeom>
          <a:solidFill>
            <a:srgbClr val="1B3A5C"/>
          </a:solidFill>
          <a:ln/>
        </p:spPr>
      </p:sp>
      <p:sp>
        <p:nvSpPr>
          <p:cNvPr id="19" name="Text 17"/>
          <p:cNvSpPr/>
          <p:nvPr/>
        </p:nvSpPr>
        <p:spPr>
          <a:xfrm>
            <a:off x="6720840" y="4187952"/>
            <a:ext cx="4709160" cy="1737360"/>
          </a:xfrm>
          <a:prstGeom prst="rect">
            <a:avLst/>
          </a:prstGeom>
          <a:noFill/>
          <a:ln/>
        </p:spPr>
        <p:txBody>
          <a:bodyPr wrap="square" lIns="0" tIns="0" rIns="0" bIns="0" rtlCol="0" anchor="t"/>
          <a:lstStyle/>
          <a:p>
            <a:pPr indent="0" marL="0">
              <a:buNone/>
            </a:pPr>
            <a:r>
              <a:rPr lang="en-US" sz="1250" b="1" dirty="0">
                <a:solidFill>
                  <a:srgbClr val="E8762C"/>
                </a:solidFill>
                <a:latin typeface="Yu Gothic" pitchFamily="34" charset="0"/>
                <a:ea typeface="Yu Gothic" pitchFamily="34" charset="-122"/>
                <a:cs typeface="Yu Gothic" pitchFamily="34" charset="-120"/>
              </a:rPr>
              <a:t>含意: 未経験×20・30代への注力が合理的
</a:t>
            </a:r>
            <a:pPr indent="0" marL="0">
              <a:buNone/>
            </a:pPr>
            <a:r>
              <a:rPr lang="en-US" sz="1050" dirty="0">
                <a:solidFill>
                  <a:srgbClr val="CADCFC"/>
                </a:solidFill>
                <a:latin typeface="Yu Gothic" pitchFamily="34" charset="0"/>
                <a:ea typeface="Yu Gothic" pitchFamily="34" charset="-122"/>
                <a:cs typeface="Yu Gothic" pitchFamily="34" charset="-120"/>
              </a:rPr>
              <a:t>経験者の「応募待ち」に予算を割くよりも、市場に存在する未経験の若手を採用し、社内で育てる(資格全額支援・約3年で一人前)方が、確率も再現性も高い戦い方です。実際に応募の67%が20〜30代と、この路線の入口は既に開通しています。</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課題② 情報の透明性不足(未経験・20/30代)</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求人で興味を持った求職者が「裏付け」を取れず、応募の一歩手前で離脱</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14</a:t>
            </a:r>
            <a:endParaRPr lang="en-US" sz="1600" dirty="0"/>
          </a:p>
        </p:txBody>
      </p:sp>
      <p:sp>
        <p:nvSpPr>
          <p:cNvPr id="5" name="Text 3"/>
          <p:cNvSpPr/>
          <p:nvPr/>
        </p:nvSpPr>
        <p:spPr>
          <a:xfrm>
            <a:off x="548640" y="1554480"/>
            <a:ext cx="10058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未経験の求職者が応募前にたどる行動と、松下工業様の現状</a:t>
            </a:r>
            <a:endParaRPr lang="en-US" sz="1400" dirty="0"/>
          </a:p>
        </p:txBody>
      </p:sp>
      <p:sp>
        <p:nvSpPr>
          <p:cNvPr id="6" name="Shape 4"/>
          <p:cNvSpPr/>
          <p:nvPr/>
        </p:nvSpPr>
        <p:spPr>
          <a:xfrm>
            <a:off x="548640" y="2011680"/>
            <a:ext cx="2057400" cy="1600200"/>
          </a:xfrm>
          <a:prstGeom prst="roundRect">
            <a:avLst>
              <a:gd name="adj" fmla="val 4571"/>
            </a:avLst>
          </a:prstGeom>
          <a:solidFill>
            <a:srgbClr val="1B3A5C"/>
          </a:solidFill>
          <a:ln/>
        </p:spPr>
      </p:sp>
      <p:sp>
        <p:nvSpPr>
          <p:cNvPr id="7" name="Text 5"/>
          <p:cNvSpPr/>
          <p:nvPr/>
        </p:nvSpPr>
        <p:spPr>
          <a:xfrm>
            <a:off x="685800" y="2121408"/>
            <a:ext cx="1783080" cy="365760"/>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求人を見る</a:t>
            </a:r>
            <a:endParaRPr lang="en-US" sz="1150" dirty="0"/>
          </a:p>
        </p:txBody>
      </p:sp>
      <p:sp>
        <p:nvSpPr>
          <p:cNvPr id="8" name="Text 6"/>
          <p:cNvSpPr/>
          <p:nvPr/>
        </p:nvSpPr>
        <p:spPr>
          <a:xfrm>
            <a:off x="685800" y="2542032"/>
            <a:ext cx="1783080" cy="960120"/>
          </a:xfrm>
          <a:prstGeom prst="rect">
            <a:avLst/>
          </a:prstGeom>
          <a:noFill/>
          <a:ln/>
        </p:spPr>
        <p:txBody>
          <a:bodyPr wrap="square" lIns="0" tIns="0" rIns="0" bIns="0"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求人原稿10件超</a:t>
            </a:r>
            <a:endParaRPr lang="en-US" sz="950" dirty="0"/>
          </a:p>
          <a:p>
            <a:pPr indent="0" marL="0">
              <a:buNone/>
            </a:pPr>
            <a:r>
              <a:rPr lang="en-US" sz="950" dirty="0">
                <a:solidFill>
                  <a:srgbClr val="CADCFC"/>
                </a:solidFill>
                <a:latin typeface="Yu Gothic" pitchFamily="34" charset="0"/>
                <a:ea typeface="Yu Gothic" pitchFamily="34" charset="-122"/>
                <a:cs typeface="Yu Gothic" pitchFamily="34" charset="-120"/>
              </a:rPr>
              <a:t>キャッチ画像も整備</a:t>
            </a:r>
            <a:endParaRPr lang="en-US" sz="950" dirty="0"/>
          </a:p>
        </p:txBody>
      </p:sp>
      <p:sp>
        <p:nvSpPr>
          <p:cNvPr id="9" name="Text 7"/>
          <p:cNvSpPr/>
          <p:nvPr/>
        </p:nvSpPr>
        <p:spPr>
          <a:xfrm>
            <a:off x="685800" y="3310128"/>
            <a:ext cx="1783080" cy="256032"/>
          </a:xfrm>
          <a:prstGeom prst="rect">
            <a:avLst/>
          </a:prstGeom>
          <a:noFill/>
          <a:ln/>
        </p:spPr>
        <p:txBody>
          <a:bodyPr wrap="square" lIns="0" tIns="0" rIns="0" bIns="0" rtlCol="0" anchor="ctr"/>
          <a:lstStyle/>
          <a:p>
            <a:pPr indent="0" marL="0">
              <a:buNone/>
            </a:pPr>
            <a:r>
              <a:rPr lang="en-US" sz="950" b="1" dirty="0">
                <a:solidFill>
                  <a:srgbClr val="E8762C"/>
                </a:solidFill>
                <a:latin typeface="Yu Gothic" pitchFamily="34" charset="0"/>
                <a:ea typeface="Yu Gothic" pitchFamily="34" charset="-122"/>
                <a:cs typeface="Yu Gothic" pitchFamily="34" charset="-120"/>
              </a:rPr>
              <a:t>○ 整備済み</a:t>
            </a:r>
            <a:endParaRPr lang="en-US" sz="950" dirty="0"/>
          </a:p>
        </p:txBody>
      </p:sp>
      <p:sp>
        <p:nvSpPr>
          <p:cNvPr id="10" name="Shape 8"/>
          <p:cNvSpPr/>
          <p:nvPr/>
        </p:nvSpPr>
        <p:spPr>
          <a:xfrm>
            <a:off x="2624328" y="2651760"/>
            <a:ext cx="256032" cy="292608"/>
          </a:xfrm>
          <a:prstGeom prst="rightArrow">
            <a:avLst/>
          </a:prstGeom>
          <a:solidFill>
            <a:srgbClr val="5A7A99"/>
          </a:solidFill>
          <a:ln/>
        </p:spPr>
      </p:sp>
      <p:sp>
        <p:nvSpPr>
          <p:cNvPr id="11" name="Shape 9"/>
          <p:cNvSpPr/>
          <p:nvPr/>
        </p:nvSpPr>
        <p:spPr>
          <a:xfrm>
            <a:off x="2862072" y="2011680"/>
            <a:ext cx="2057400" cy="1600200"/>
          </a:xfrm>
          <a:prstGeom prst="roundRect">
            <a:avLst>
              <a:gd name="adj" fmla="val 4571"/>
            </a:avLst>
          </a:prstGeom>
          <a:solidFill>
            <a:srgbClr val="F2F6FA"/>
          </a:solidFill>
          <a:ln/>
        </p:spPr>
      </p:sp>
      <p:sp>
        <p:nvSpPr>
          <p:cNvPr id="12" name="Text 10"/>
          <p:cNvSpPr/>
          <p:nvPr/>
        </p:nvSpPr>
        <p:spPr>
          <a:xfrm>
            <a:off x="2999232"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会社名で検索</a:t>
            </a:r>
            <a:endParaRPr lang="en-US" sz="1150" dirty="0"/>
          </a:p>
        </p:txBody>
      </p:sp>
      <p:sp>
        <p:nvSpPr>
          <p:cNvPr id="13" name="Text 11"/>
          <p:cNvSpPr/>
          <p:nvPr/>
        </p:nvSpPr>
        <p:spPr>
          <a:xfrm>
            <a:off x="2999232"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採用サイトなし</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HPは工事情報中心</a:t>
            </a:r>
            <a:endParaRPr lang="en-US" sz="950" dirty="0"/>
          </a:p>
        </p:txBody>
      </p:sp>
      <p:sp>
        <p:nvSpPr>
          <p:cNvPr id="14" name="Text 12"/>
          <p:cNvSpPr/>
          <p:nvPr/>
        </p:nvSpPr>
        <p:spPr>
          <a:xfrm>
            <a:off x="2999232"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15" name="Shape 13"/>
          <p:cNvSpPr/>
          <p:nvPr/>
        </p:nvSpPr>
        <p:spPr>
          <a:xfrm>
            <a:off x="4937760" y="2651760"/>
            <a:ext cx="256032" cy="292608"/>
          </a:xfrm>
          <a:prstGeom prst="rightArrow">
            <a:avLst/>
          </a:prstGeom>
          <a:solidFill>
            <a:srgbClr val="5A7A99"/>
          </a:solidFill>
          <a:ln/>
        </p:spPr>
      </p:sp>
      <p:sp>
        <p:nvSpPr>
          <p:cNvPr id="16" name="Shape 14"/>
          <p:cNvSpPr/>
          <p:nvPr/>
        </p:nvSpPr>
        <p:spPr>
          <a:xfrm>
            <a:off x="5175504" y="2011680"/>
            <a:ext cx="2057400" cy="1600200"/>
          </a:xfrm>
          <a:prstGeom prst="roundRect">
            <a:avLst>
              <a:gd name="adj" fmla="val 4571"/>
            </a:avLst>
          </a:prstGeom>
          <a:solidFill>
            <a:srgbClr val="F2F6FA"/>
          </a:solidFill>
          <a:ln/>
        </p:spPr>
      </p:sp>
      <p:sp>
        <p:nvSpPr>
          <p:cNvPr id="17" name="Text 15"/>
          <p:cNvSpPr/>
          <p:nvPr/>
        </p:nvSpPr>
        <p:spPr>
          <a:xfrm>
            <a:off x="5312664"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口コミを探す</a:t>
            </a:r>
            <a:endParaRPr lang="en-US" sz="1150" dirty="0"/>
          </a:p>
        </p:txBody>
      </p:sp>
      <p:sp>
        <p:nvSpPr>
          <p:cNvPr id="18" name="Text 16"/>
          <p:cNvSpPr/>
          <p:nvPr/>
        </p:nvSpPr>
        <p:spPr>
          <a:xfrm>
            <a:off x="5312664"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口コミ情報なし</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判断材料ゼロ</a:t>
            </a:r>
            <a:endParaRPr lang="en-US" sz="950" dirty="0"/>
          </a:p>
        </p:txBody>
      </p:sp>
      <p:sp>
        <p:nvSpPr>
          <p:cNvPr id="19" name="Text 17"/>
          <p:cNvSpPr/>
          <p:nvPr/>
        </p:nvSpPr>
        <p:spPr>
          <a:xfrm>
            <a:off x="5312664"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20" name="Shape 18"/>
          <p:cNvSpPr/>
          <p:nvPr/>
        </p:nvSpPr>
        <p:spPr>
          <a:xfrm>
            <a:off x="7251192" y="2651760"/>
            <a:ext cx="256032" cy="292608"/>
          </a:xfrm>
          <a:prstGeom prst="rightArrow">
            <a:avLst/>
          </a:prstGeom>
          <a:solidFill>
            <a:srgbClr val="5A7A99"/>
          </a:solidFill>
          <a:ln/>
        </p:spPr>
      </p:sp>
      <p:sp>
        <p:nvSpPr>
          <p:cNvPr id="21" name="Shape 19"/>
          <p:cNvSpPr/>
          <p:nvPr/>
        </p:nvSpPr>
        <p:spPr>
          <a:xfrm>
            <a:off x="7488936" y="2011680"/>
            <a:ext cx="2057400" cy="1600200"/>
          </a:xfrm>
          <a:prstGeom prst="roundRect">
            <a:avLst>
              <a:gd name="adj" fmla="val 4571"/>
            </a:avLst>
          </a:prstGeom>
          <a:solidFill>
            <a:srgbClr val="F2F6FA"/>
          </a:solidFill>
          <a:ln/>
        </p:spPr>
      </p:sp>
      <p:sp>
        <p:nvSpPr>
          <p:cNvPr id="22" name="Text 20"/>
          <p:cNvSpPr/>
          <p:nvPr/>
        </p:nvSpPr>
        <p:spPr>
          <a:xfrm>
            <a:off x="7626096"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SNSを見る</a:t>
            </a:r>
            <a:endParaRPr lang="en-US" sz="1150" dirty="0"/>
          </a:p>
        </p:txBody>
      </p:sp>
      <p:sp>
        <p:nvSpPr>
          <p:cNvPr id="23" name="Text 21"/>
          <p:cNvSpPr/>
          <p:nvPr/>
        </p:nvSpPr>
        <p:spPr>
          <a:xfrm>
            <a:off x="7626096"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Xは尖った発信のみ</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Instagramは開始直後</a:t>
            </a:r>
            <a:endParaRPr lang="en-US" sz="950" dirty="0"/>
          </a:p>
        </p:txBody>
      </p:sp>
      <p:sp>
        <p:nvSpPr>
          <p:cNvPr id="24" name="Text 22"/>
          <p:cNvSpPr/>
          <p:nvPr/>
        </p:nvSpPr>
        <p:spPr>
          <a:xfrm>
            <a:off x="7626096"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25" name="Shape 23"/>
          <p:cNvSpPr/>
          <p:nvPr/>
        </p:nvSpPr>
        <p:spPr>
          <a:xfrm>
            <a:off x="9564624" y="2651760"/>
            <a:ext cx="256032" cy="292608"/>
          </a:xfrm>
          <a:prstGeom prst="rightArrow">
            <a:avLst/>
          </a:prstGeom>
          <a:solidFill>
            <a:srgbClr val="5A7A99"/>
          </a:solidFill>
          <a:ln/>
        </p:spPr>
      </p:sp>
      <p:sp>
        <p:nvSpPr>
          <p:cNvPr id="26" name="Shape 24"/>
          <p:cNvSpPr/>
          <p:nvPr/>
        </p:nvSpPr>
        <p:spPr>
          <a:xfrm>
            <a:off x="9802368" y="2011680"/>
            <a:ext cx="2057400" cy="1600200"/>
          </a:xfrm>
          <a:prstGeom prst="roundRect">
            <a:avLst>
              <a:gd name="adj" fmla="val 4571"/>
            </a:avLst>
          </a:prstGeom>
          <a:solidFill>
            <a:srgbClr val="F2F6FA"/>
          </a:solidFill>
          <a:ln/>
        </p:spPr>
      </p:sp>
      <p:sp>
        <p:nvSpPr>
          <p:cNvPr id="27" name="Text 25"/>
          <p:cNvSpPr/>
          <p:nvPr/>
        </p:nvSpPr>
        <p:spPr>
          <a:xfrm>
            <a:off x="9939528"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応募 or 離脱</a:t>
            </a:r>
            <a:endParaRPr lang="en-US" sz="1150" dirty="0"/>
          </a:p>
        </p:txBody>
      </p:sp>
      <p:sp>
        <p:nvSpPr>
          <p:cNvPr id="28" name="Text 26"/>
          <p:cNvSpPr/>
          <p:nvPr/>
        </p:nvSpPr>
        <p:spPr>
          <a:xfrm>
            <a:off x="9939528"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説明会予約CV 0件</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(裏付け不足で離脱)</a:t>
            </a:r>
            <a:endParaRPr lang="en-US" sz="950" dirty="0"/>
          </a:p>
        </p:txBody>
      </p:sp>
      <p:sp>
        <p:nvSpPr>
          <p:cNvPr id="29" name="Text 27"/>
          <p:cNvSpPr/>
          <p:nvPr/>
        </p:nvSpPr>
        <p:spPr>
          <a:xfrm>
            <a:off x="9939528"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30" name="Shape 28"/>
          <p:cNvSpPr/>
          <p:nvPr/>
        </p:nvSpPr>
        <p:spPr>
          <a:xfrm>
            <a:off x="548640" y="3977640"/>
            <a:ext cx="5577840" cy="2286000"/>
          </a:xfrm>
          <a:prstGeom prst="roundRect">
            <a:avLst>
              <a:gd name="adj" fmla="val 3200"/>
            </a:avLst>
          </a:prstGeom>
          <a:solidFill>
            <a:srgbClr val="F2F6FA"/>
          </a:solidFill>
          <a:ln/>
        </p:spPr>
      </p:sp>
      <p:sp>
        <p:nvSpPr>
          <p:cNvPr id="31" name="Text 29"/>
          <p:cNvSpPr/>
          <p:nvPr/>
        </p:nvSpPr>
        <p:spPr>
          <a:xfrm>
            <a:off x="777240" y="4114800"/>
            <a:ext cx="5120640" cy="320040"/>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特に不足している3つの情報</a:t>
            </a:r>
            <a:endParaRPr lang="en-US" sz="1250" dirty="0"/>
          </a:p>
        </p:txBody>
      </p:sp>
      <p:sp>
        <p:nvSpPr>
          <p:cNvPr id="32" name="Text 30"/>
          <p:cNvSpPr/>
          <p:nvPr/>
        </p:nvSpPr>
        <p:spPr>
          <a:xfrm>
            <a:off x="777240" y="4526280"/>
            <a:ext cx="5120640" cy="1600200"/>
          </a:xfrm>
          <a:prstGeom prst="rect">
            <a:avLst/>
          </a:prstGeom>
          <a:noFill/>
          <a:ln/>
        </p:spPr>
        <p:txBody>
          <a:bodyPr wrap="square" lIns="0" tIns="0" rIns="0" bIns="0" rtlCol="0" anchor="t"/>
          <a:lstStyle/>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働き方 ─ 17時退社・休日・残業の実態など、生活がイメージできる情報</a:t>
            </a:r>
            <a:endParaRPr lang="en-US" sz="1100" dirty="0"/>
          </a:p>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業務内容 ─ 1日の流れ・現場の様子・未経験からの成長ステップ</a:t>
            </a:r>
            <a:endParaRPr lang="en-US" sz="1100" dirty="0"/>
          </a:p>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働く人 ─ どんな先輩がいるか・年齢構成・職場の雰囲気</a:t>
            </a:r>
            <a:endParaRPr lang="en-US" sz="1100" dirty="0"/>
          </a:p>
        </p:txBody>
      </p:sp>
      <p:sp>
        <p:nvSpPr>
          <p:cNvPr id="33" name="Shape 31"/>
          <p:cNvSpPr/>
          <p:nvPr/>
        </p:nvSpPr>
        <p:spPr>
          <a:xfrm>
            <a:off x="6492240" y="3977640"/>
            <a:ext cx="5166360" cy="2286000"/>
          </a:xfrm>
          <a:prstGeom prst="roundRect">
            <a:avLst>
              <a:gd name="adj" fmla="val 3200"/>
            </a:avLst>
          </a:prstGeom>
          <a:solidFill>
            <a:srgbClr val="1B3A5C"/>
          </a:solidFill>
          <a:ln/>
        </p:spPr>
      </p:sp>
      <p:sp>
        <p:nvSpPr>
          <p:cNvPr id="34" name="Text 32"/>
          <p:cNvSpPr/>
          <p:nvPr/>
        </p:nvSpPr>
        <p:spPr>
          <a:xfrm>
            <a:off x="6720840" y="4114800"/>
            <a:ext cx="4709160" cy="320040"/>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打ち手: 採用HPリニューアル+Instagram</a:t>
            </a:r>
            <a:endParaRPr lang="en-US" sz="1250" dirty="0"/>
          </a:p>
        </p:txBody>
      </p:sp>
      <p:sp>
        <p:nvSpPr>
          <p:cNvPr id="35" name="Text 33"/>
          <p:cNvSpPr/>
          <p:nvPr/>
        </p:nvSpPr>
        <p:spPr>
          <a:xfrm>
            <a:off x="6720840" y="4526280"/>
            <a:ext cx="4709160" cy="1600200"/>
          </a:xfrm>
          <a:prstGeom prst="rect">
            <a:avLst/>
          </a:prstGeom>
          <a:noFill/>
          <a:ln/>
        </p:spPr>
        <p:txBody>
          <a:bodyPr wrap="square" lIns="0" tIns="0" rIns="0" bIns="0" rtlCol="0" anchor="t"/>
          <a:lstStyle/>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採用HPリニューアル(お盆前完了予定)に「働き方・業務内容・働く人」のコンテンツを集約</a:t>
            </a:r>
            <a:endParaRPr lang="en-US" sz="1050" dirty="0"/>
          </a:p>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Instagramで同テーマを定期投稿し、検索時の受け皿に(静止画+文字で社長が自走できる運用)</a:t>
            </a:r>
            <a:endParaRPr lang="en-US" sz="1050" dirty="0"/>
          </a:p>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求人媒体→Instagram→HPの導線で、どこから調べても情報に辿り着ける状態へ</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課題③ 求職者との直接接点の不足</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情報の不透明性を補う最短ルートは「直接会って話す」こと ─ 集客は他社の力を借りる</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15</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自社集客イベントの実績</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5577840" cy="914400"/>
        </p:xfrm>
        <a:graphic>
          <a:graphicData uri="http://schemas.openxmlformats.org/drawingml/2006/table">
            <a:tbl>
              <a:tblPr/>
              <a:tblGrid>
                <a:gridCol w="1828800"/>
                <a:gridCol w="2194560"/>
                <a:gridCol w="1554480"/>
              </a:tblGrid>
              <a:tr h="47548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形式</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実施</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集客結果</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自社説明会(対面)</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3/14・4/11・6/20・6/27</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申込 0〜1名</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オンライン説明会</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7/16・23・30(毎週木曜)</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LP予約CV 0件</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ハローワーク説明会</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4/28(他社集客型)</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2名参加</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bl>
          </a:graphicData>
        </a:graphic>
      </p:graphicFrame>
      <p:sp>
        <p:nvSpPr>
          <p:cNvPr id="7" name="Shape 4"/>
          <p:cNvSpPr/>
          <p:nvPr/>
        </p:nvSpPr>
        <p:spPr>
          <a:xfrm>
            <a:off x="548640" y="4206240"/>
            <a:ext cx="5577840" cy="1920240"/>
          </a:xfrm>
          <a:prstGeom prst="roundRect">
            <a:avLst>
              <a:gd name="adj" fmla="val 3810"/>
            </a:avLst>
          </a:prstGeom>
          <a:solidFill>
            <a:srgbClr val="FDF0E6"/>
          </a:solidFill>
          <a:ln/>
        </p:spPr>
      </p:sp>
      <p:sp>
        <p:nvSpPr>
          <p:cNvPr id="8" name="Text 5"/>
          <p:cNvSpPr/>
          <p:nvPr/>
        </p:nvSpPr>
        <p:spPr>
          <a:xfrm>
            <a:off x="777240" y="4370832"/>
            <a:ext cx="5120640" cy="160020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唯一集客できたのは「他社(ハローワーク)が集めた場」。</a:t>
            </a:r>
            <a:pPr indent="0" marL="0">
              <a:buNone/>
            </a:pPr>
            <a:r>
              <a:rPr lang="en-US" sz="1100" dirty="0">
                <a:solidFill>
                  <a:srgbClr val="374151"/>
                </a:solidFill>
                <a:latin typeface="Yu Gothic" pitchFamily="34" charset="0"/>
                <a:ea typeface="Yu Gothic" pitchFamily="34" charset="-122"/>
                <a:cs typeface="Yu Gothic" pitchFamily="34" charset="-120"/>
              </a:rPr>
              <a:t>自社単独の集客はWeb広告を投下しても実参加に至らず、説明会そのものの品質(資料・運営・オンライン化)は整備済みのため、残る変数は「集客力」のみです。</a:t>
            </a:r>
            <a:endParaRPr lang="en-US" sz="1100" dirty="0"/>
          </a:p>
        </p:txBody>
      </p:sp>
      <p:sp>
        <p:nvSpPr>
          <p:cNvPr id="9" name="Text 6"/>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打ち手: 他社集客型イベントへの参加</a:t>
            </a:r>
            <a:endParaRPr lang="en-US" sz="1400" dirty="0"/>
          </a:p>
        </p:txBody>
      </p:sp>
      <p:sp>
        <p:nvSpPr>
          <p:cNvPr id="10" name="Shape 7"/>
          <p:cNvSpPr/>
          <p:nvPr/>
        </p:nvSpPr>
        <p:spPr>
          <a:xfrm>
            <a:off x="6492240" y="2029968"/>
            <a:ext cx="384048" cy="384048"/>
          </a:xfrm>
          <a:prstGeom prst="ellipse">
            <a:avLst/>
          </a:prstGeom>
          <a:solidFill>
            <a:srgbClr val="E8762C"/>
          </a:solidFill>
          <a:ln/>
        </p:spPr>
      </p:sp>
      <p:sp>
        <p:nvSpPr>
          <p:cNvPr id="11" name="Text 8"/>
          <p:cNvSpPr/>
          <p:nvPr/>
        </p:nvSpPr>
        <p:spPr>
          <a:xfrm>
            <a:off x="649224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12" name="Text 9"/>
          <p:cNvSpPr/>
          <p:nvPr/>
        </p:nvSpPr>
        <p:spPr>
          <a:xfrm>
            <a:off x="7013448" y="1965960"/>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ハローワーク説明会
</a:t>
            </a:r>
            <a:pPr indent="0" marL="0">
              <a:buNone/>
            </a:pPr>
            <a:r>
              <a:rPr lang="en-US" sz="1050" dirty="0">
                <a:solidFill>
                  <a:srgbClr val="374151"/>
                </a:solidFill>
                <a:latin typeface="Yu Gothic" pitchFamily="34" charset="0"/>
                <a:ea typeface="Yu Gothic" pitchFamily="34" charset="-122"/>
                <a:cs typeface="Yu Gothic" pitchFamily="34" charset="-120"/>
              </a:rPr>
              <a:t>無料・次回8/28以降で予約可。他社事例では予約19名・参加14名の実績も(施工管理職)。PRシート・写真掲載は整備済みですぐ乗れる</a:t>
            </a:r>
            <a:endParaRPr lang="en-US" sz="1200" dirty="0"/>
          </a:p>
        </p:txBody>
      </p:sp>
      <p:sp>
        <p:nvSpPr>
          <p:cNvPr id="13" name="Shape 10"/>
          <p:cNvSpPr/>
          <p:nvPr/>
        </p:nvSpPr>
        <p:spPr>
          <a:xfrm>
            <a:off x="6492240" y="3328416"/>
            <a:ext cx="384048" cy="384048"/>
          </a:xfrm>
          <a:prstGeom prst="ellipse">
            <a:avLst/>
          </a:prstGeom>
          <a:solidFill>
            <a:srgbClr val="E8762C"/>
          </a:solidFill>
          <a:ln/>
        </p:spPr>
      </p:sp>
      <p:sp>
        <p:nvSpPr>
          <p:cNvPr id="14" name="Text 11"/>
          <p:cNvSpPr/>
          <p:nvPr/>
        </p:nvSpPr>
        <p:spPr>
          <a:xfrm>
            <a:off x="6492240" y="33238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2"/>
          <p:cNvSpPr/>
          <p:nvPr/>
        </p:nvSpPr>
        <p:spPr>
          <a:xfrm>
            <a:off x="7013448" y="3264408"/>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マイナビ転職フェア富山
</a:t>
            </a:r>
            <a:pPr indent="0" marL="0">
              <a:buNone/>
            </a:pPr>
            <a:r>
              <a:rPr lang="en-US" sz="1050" dirty="0">
                <a:solidFill>
                  <a:srgbClr val="374151"/>
                </a:solidFill>
                <a:latin typeface="Yu Gothic" pitchFamily="34" charset="0"/>
                <a:ea typeface="Yu Gothic" pitchFamily="34" charset="-122"/>
                <a:cs typeface="Yu Gothic" pitchFamily="34" charset="-120"/>
              </a:rPr>
              <a:t>来場151名・参加67社、20〜30代来場が中心でターゲット合致。10月・1月開催。出展費用(推定20〜35万円)は交渉のうえ9月中に判断</a:t>
            </a:r>
            <a:endParaRPr lang="en-US" sz="1200" dirty="0"/>
          </a:p>
        </p:txBody>
      </p:sp>
      <p:sp>
        <p:nvSpPr>
          <p:cNvPr id="16" name="Shape 13"/>
          <p:cNvSpPr/>
          <p:nvPr/>
        </p:nvSpPr>
        <p:spPr>
          <a:xfrm>
            <a:off x="6492240" y="4626864"/>
            <a:ext cx="384048" cy="384048"/>
          </a:xfrm>
          <a:prstGeom prst="ellipse">
            <a:avLst/>
          </a:prstGeom>
          <a:solidFill>
            <a:srgbClr val="E8762C"/>
          </a:solidFill>
          <a:ln/>
        </p:spPr>
      </p:sp>
      <p:sp>
        <p:nvSpPr>
          <p:cNvPr id="17" name="Text 14"/>
          <p:cNvSpPr/>
          <p:nvPr/>
        </p:nvSpPr>
        <p:spPr>
          <a:xfrm>
            <a:off x="6492240" y="46222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18" name="Text 15"/>
          <p:cNvSpPr/>
          <p:nvPr/>
        </p:nvSpPr>
        <p:spPr>
          <a:xfrm>
            <a:off x="7013448" y="4562856"/>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建設職人特化スカウト
</a:t>
            </a:r>
            <a:pPr indent="0" marL="0">
              <a:buNone/>
            </a:pPr>
            <a:r>
              <a:rPr lang="en-US" sz="1050" dirty="0">
                <a:solidFill>
                  <a:srgbClr val="374151"/>
                </a:solidFill>
                <a:latin typeface="Yu Gothic" pitchFamily="34" charset="0"/>
                <a:ea typeface="Yu Gothic" pitchFamily="34" charset="-122"/>
                <a:cs typeface="Yu Gothic" pitchFamily="34" charset="-120"/>
              </a:rPr>
              <a:t>「職人スカウト」(登録3,300名)は北陸登録者数の回答待ち。費用対効果次第で追加</a:t>
            </a:r>
            <a:endParaRPr lang="en-US" sz="1200" dirty="0"/>
          </a:p>
        </p:txBody>
      </p:sp>
      <p:sp>
        <p:nvSpPr>
          <p:cNvPr id="19" name="Text 16"/>
          <p:cNvSpPr/>
          <p:nvPr/>
        </p:nvSpPr>
        <p:spPr>
          <a:xfrm>
            <a:off x="6492240" y="5943600"/>
            <a:ext cx="5166360" cy="54864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 説明会は「集客の場」から「クロージングの場」へ役割を再定義。出会いは外部で、深い相互理解は自社の説明会で。</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今後のご提言 ─ 3つの課題に対応する打ち手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8月以降の転職市場再活性化(ピーク:9〜10月)を最大限に活かすために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16</a:t>
            </a:r>
            <a:endParaRPr lang="en-US" sz="1600" dirty="0"/>
          </a:p>
        </p:txBody>
      </p:sp>
      <p:sp>
        <p:nvSpPr>
          <p:cNvPr id="5" name="Shape 3"/>
          <p:cNvSpPr/>
          <p:nvPr/>
        </p:nvSpPr>
        <p:spPr>
          <a:xfrm>
            <a:off x="594360" y="1609344"/>
            <a:ext cx="384048" cy="384048"/>
          </a:xfrm>
          <a:prstGeom prst="ellipse">
            <a:avLst/>
          </a:prstGeom>
          <a:solidFill>
            <a:srgbClr val="E8762C"/>
          </a:solidFill>
          <a:ln/>
        </p:spPr>
      </p:sp>
      <p:sp>
        <p:nvSpPr>
          <p:cNvPr id="6" name="Text 4"/>
          <p:cNvSpPr/>
          <p:nvPr/>
        </p:nvSpPr>
        <p:spPr>
          <a:xfrm>
            <a:off x="594360" y="1604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7" name="Shape 5"/>
          <p:cNvSpPr/>
          <p:nvPr/>
        </p:nvSpPr>
        <p:spPr>
          <a:xfrm>
            <a:off x="10561320" y="1591056"/>
            <a:ext cx="1051560" cy="384048"/>
          </a:xfrm>
          <a:prstGeom prst="roundRect">
            <a:avLst>
              <a:gd name="adj" fmla="val 14286"/>
            </a:avLst>
          </a:prstGeom>
          <a:solidFill>
            <a:srgbClr val="FDF0E6"/>
          </a:solidFill>
          <a:ln/>
        </p:spPr>
      </p:sp>
      <p:sp>
        <p:nvSpPr>
          <p:cNvPr id="8" name="Text 6"/>
          <p:cNvSpPr/>
          <p:nvPr/>
        </p:nvSpPr>
        <p:spPr>
          <a:xfrm>
            <a:off x="10561320" y="1591056"/>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課題②対応</a:t>
            </a:r>
            <a:endParaRPr lang="en-US" sz="950" dirty="0"/>
          </a:p>
        </p:txBody>
      </p:sp>
      <p:sp>
        <p:nvSpPr>
          <p:cNvPr id="9" name="Text 7"/>
          <p:cNvSpPr/>
          <p:nvPr/>
        </p:nvSpPr>
        <p:spPr>
          <a:xfrm>
            <a:off x="1188720" y="1536192"/>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採用HPリニューアル+Instagramで「情報の透明性」を確保
</a:t>
            </a:r>
            <a:pPr indent="0" marL="0">
              <a:buNone/>
            </a:pPr>
            <a:r>
              <a:rPr lang="en-US" sz="1100" dirty="0">
                <a:solidFill>
                  <a:srgbClr val="374151"/>
                </a:solidFill>
                <a:latin typeface="Yu Gothic" pitchFamily="34" charset="0"/>
                <a:ea typeface="Yu Gothic" pitchFamily="34" charset="-122"/>
                <a:cs typeface="Yu Gothic" pitchFamily="34" charset="-120"/>
              </a:rPr>
              <a:t>「働き方・業務内容・どんな人が働いているか」を軸に発信を強化。リニューアルHP(お盆前完了予定)とInstagramを紐付け、求人から裏付けを取りに来た求職者が必ず情報に辿り着ける状態をつくる</a:t>
            </a:r>
            <a:endParaRPr lang="en-US" sz="1300" dirty="0"/>
          </a:p>
        </p:txBody>
      </p:sp>
      <p:sp>
        <p:nvSpPr>
          <p:cNvPr id="10" name="Shape 8"/>
          <p:cNvSpPr/>
          <p:nvPr/>
        </p:nvSpPr>
        <p:spPr>
          <a:xfrm>
            <a:off x="594360" y="2542032"/>
            <a:ext cx="384048" cy="384048"/>
          </a:xfrm>
          <a:prstGeom prst="ellipse">
            <a:avLst/>
          </a:prstGeom>
          <a:solidFill>
            <a:srgbClr val="E8762C"/>
          </a:solidFill>
          <a:ln/>
        </p:spPr>
      </p:sp>
      <p:sp>
        <p:nvSpPr>
          <p:cNvPr id="11" name="Text 9"/>
          <p:cNvSpPr/>
          <p:nvPr/>
        </p:nvSpPr>
        <p:spPr>
          <a:xfrm>
            <a:off x="594360" y="25374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2" name="Shape 10"/>
          <p:cNvSpPr/>
          <p:nvPr/>
        </p:nvSpPr>
        <p:spPr>
          <a:xfrm>
            <a:off x="10561320" y="2523744"/>
            <a:ext cx="1051560" cy="384048"/>
          </a:xfrm>
          <a:prstGeom prst="roundRect">
            <a:avLst>
              <a:gd name="adj" fmla="val 14286"/>
            </a:avLst>
          </a:prstGeom>
          <a:solidFill>
            <a:srgbClr val="FDF0E6"/>
          </a:solidFill>
          <a:ln/>
        </p:spPr>
      </p:sp>
      <p:sp>
        <p:nvSpPr>
          <p:cNvPr id="13" name="Text 11"/>
          <p:cNvSpPr/>
          <p:nvPr/>
        </p:nvSpPr>
        <p:spPr>
          <a:xfrm>
            <a:off x="10561320" y="2523744"/>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課題③対応</a:t>
            </a:r>
            <a:endParaRPr lang="en-US" sz="950" dirty="0"/>
          </a:p>
        </p:txBody>
      </p:sp>
      <p:sp>
        <p:nvSpPr>
          <p:cNvPr id="14" name="Text 12"/>
          <p:cNvSpPr/>
          <p:nvPr/>
        </p:nvSpPr>
        <p:spPr>
          <a:xfrm>
            <a:off x="1188720" y="2468880"/>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他社集客型イベントで求職者と直接交流
</a:t>
            </a:r>
            <a:pPr indent="0" marL="0">
              <a:buNone/>
            </a:pPr>
            <a:r>
              <a:rPr lang="en-US" sz="1100" dirty="0">
                <a:solidFill>
                  <a:srgbClr val="374151"/>
                </a:solidFill>
                <a:latin typeface="Yu Gothic" pitchFamily="34" charset="0"/>
                <a:ea typeface="Yu Gothic" pitchFamily="34" charset="-122"/>
                <a:cs typeface="Yu Gothic" pitchFamily="34" charset="-120"/>
              </a:rPr>
              <a:t>ハローワーク説明会(8/28以降予約可)と、マイナビ転職フェア富山(10月・1月、20〜30代来場中心)等の合同説明会に参加。自社集客に依存せず、対面交流で情報不足への不安を解消する</a:t>
            </a:r>
            <a:endParaRPr lang="en-US" sz="1300" dirty="0"/>
          </a:p>
        </p:txBody>
      </p:sp>
      <p:sp>
        <p:nvSpPr>
          <p:cNvPr id="15" name="Shape 13"/>
          <p:cNvSpPr/>
          <p:nvPr/>
        </p:nvSpPr>
        <p:spPr>
          <a:xfrm>
            <a:off x="594360" y="3474720"/>
            <a:ext cx="384048" cy="384048"/>
          </a:xfrm>
          <a:prstGeom prst="ellipse">
            <a:avLst/>
          </a:prstGeom>
          <a:solidFill>
            <a:srgbClr val="E8762C"/>
          </a:solidFill>
          <a:ln/>
        </p:spPr>
      </p:sp>
      <p:sp>
        <p:nvSpPr>
          <p:cNvPr id="16" name="Text 14"/>
          <p:cNvSpPr/>
          <p:nvPr/>
        </p:nvSpPr>
        <p:spPr>
          <a:xfrm>
            <a:off x="594360" y="34701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17" name="Shape 15"/>
          <p:cNvSpPr/>
          <p:nvPr/>
        </p:nvSpPr>
        <p:spPr>
          <a:xfrm>
            <a:off x="10561320" y="3456432"/>
            <a:ext cx="1051560" cy="384048"/>
          </a:xfrm>
          <a:prstGeom prst="roundRect">
            <a:avLst>
              <a:gd name="adj" fmla="val 14286"/>
            </a:avLst>
          </a:prstGeom>
          <a:solidFill>
            <a:srgbClr val="FDF0E6"/>
          </a:solidFill>
          <a:ln/>
        </p:spPr>
      </p:sp>
      <p:sp>
        <p:nvSpPr>
          <p:cNvPr id="18" name="Text 16"/>
          <p:cNvSpPr/>
          <p:nvPr/>
        </p:nvSpPr>
        <p:spPr>
          <a:xfrm>
            <a:off x="10561320" y="3456432"/>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課題①対応</a:t>
            </a:r>
            <a:endParaRPr lang="en-US" sz="950" dirty="0"/>
          </a:p>
        </p:txBody>
      </p:sp>
      <p:sp>
        <p:nvSpPr>
          <p:cNvPr id="19" name="Text 17"/>
          <p:cNvSpPr/>
          <p:nvPr/>
        </p:nvSpPr>
        <p:spPr>
          <a:xfrm>
            <a:off x="1188720" y="3401568"/>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未経験×20・30代への注力を継続
</a:t>
            </a:r>
            <a:pPr indent="0" marL="0">
              <a:buNone/>
            </a:pPr>
            <a:r>
              <a:rPr lang="en-US" sz="1100" dirty="0">
                <a:solidFill>
                  <a:srgbClr val="374151"/>
                </a:solidFill>
                <a:latin typeface="Yu Gothic" pitchFamily="34" charset="0"/>
                <a:ea typeface="Yu Gothic" pitchFamily="34" charset="-122"/>
                <a:cs typeface="Yu Gothic" pitchFamily="34" charset="-120"/>
              </a:rPr>
              <a:t>経験者市場は構造的に小さいことが検証で判明済み。「オタク気質×AI」訴求と未経験育成(資格全額支援・3年で一人前)を前面に、未経験採用に投資を集中する</a:t>
            </a:r>
            <a:endParaRPr lang="en-US" sz="1300" dirty="0"/>
          </a:p>
        </p:txBody>
      </p:sp>
      <p:sp>
        <p:nvSpPr>
          <p:cNvPr id="20" name="Shape 18"/>
          <p:cNvSpPr/>
          <p:nvPr/>
        </p:nvSpPr>
        <p:spPr>
          <a:xfrm>
            <a:off x="594360" y="4407408"/>
            <a:ext cx="384048" cy="384048"/>
          </a:xfrm>
          <a:prstGeom prst="ellipse">
            <a:avLst/>
          </a:prstGeom>
          <a:solidFill>
            <a:srgbClr val="5A7A99"/>
          </a:solidFill>
          <a:ln/>
        </p:spPr>
      </p:sp>
      <p:sp>
        <p:nvSpPr>
          <p:cNvPr id="21" name="Text 19"/>
          <p:cNvSpPr/>
          <p:nvPr/>
        </p:nvSpPr>
        <p:spPr>
          <a:xfrm>
            <a:off x="594360" y="440283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22" name="Shape 20"/>
          <p:cNvSpPr/>
          <p:nvPr/>
        </p:nvSpPr>
        <p:spPr>
          <a:xfrm>
            <a:off x="10561320" y="4389120"/>
            <a:ext cx="1051560" cy="384048"/>
          </a:xfrm>
          <a:prstGeom prst="roundRect">
            <a:avLst>
              <a:gd name="adj" fmla="val 14286"/>
            </a:avLst>
          </a:prstGeom>
          <a:solidFill>
            <a:srgbClr val="E5E7EB"/>
          </a:solidFill>
          <a:ln/>
        </p:spPr>
      </p:sp>
      <p:sp>
        <p:nvSpPr>
          <p:cNvPr id="23" name="Text 21"/>
          <p:cNvSpPr/>
          <p:nvPr/>
        </p:nvSpPr>
        <p:spPr>
          <a:xfrm>
            <a:off x="10561320" y="4389120"/>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4" name="Text 22"/>
          <p:cNvSpPr/>
          <p:nvPr/>
        </p:nvSpPr>
        <p:spPr>
          <a:xfrm>
            <a:off x="1188720" y="4334256"/>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20〜30代の選考移行率の改善
</a:t>
            </a:r>
            <a:pPr indent="0" marL="0">
              <a:buNone/>
            </a:pPr>
            <a:r>
              <a:rPr lang="en-US" sz="1100" dirty="0">
                <a:solidFill>
                  <a:srgbClr val="374151"/>
                </a:solidFill>
                <a:latin typeface="Yu Gothic" pitchFamily="34" charset="0"/>
                <a:ea typeface="Yu Gothic" pitchFamily="34" charset="-122"/>
                <a:cs typeface="Yu Gothic" pitchFamily="34" charset="-120"/>
              </a:rPr>
              <a:t>初回接触を固定電話→SMS→LINEの順で徹底し若手の連絡途絶を防止。オンライン説明会への誘導を全応募者の標準フローにし、「応募→説明会参加」の移行率をKPIとして毎週計測</a:t>
            </a:r>
            <a:endParaRPr lang="en-US" sz="1300" dirty="0"/>
          </a:p>
        </p:txBody>
      </p:sp>
      <p:sp>
        <p:nvSpPr>
          <p:cNvPr id="25" name="Shape 23"/>
          <p:cNvSpPr/>
          <p:nvPr/>
        </p:nvSpPr>
        <p:spPr>
          <a:xfrm>
            <a:off x="594360" y="5340096"/>
            <a:ext cx="384048" cy="384048"/>
          </a:xfrm>
          <a:prstGeom prst="ellipse">
            <a:avLst/>
          </a:prstGeom>
          <a:solidFill>
            <a:srgbClr val="5A7A99"/>
          </a:solidFill>
          <a:ln/>
        </p:spPr>
      </p:sp>
      <p:sp>
        <p:nvSpPr>
          <p:cNvPr id="26" name="Text 24"/>
          <p:cNvSpPr/>
          <p:nvPr/>
        </p:nvSpPr>
        <p:spPr>
          <a:xfrm>
            <a:off x="594360" y="53355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5</a:t>
            </a:r>
            <a:endParaRPr lang="en-US" sz="1500" dirty="0"/>
          </a:p>
        </p:txBody>
      </p:sp>
      <p:sp>
        <p:nvSpPr>
          <p:cNvPr id="27" name="Shape 25"/>
          <p:cNvSpPr/>
          <p:nvPr/>
        </p:nvSpPr>
        <p:spPr>
          <a:xfrm>
            <a:off x="10561320" y="5321808"/>
            <a:ext cx="1051560" cy="384048"/>
          </a:xfrm>
          <a:prstGeom prst="roundRect">
            <a:avLst>
              <a:gd name="adj" fmla="val 14286"/>
            </a:avLst>
          </a:prstGeom>
          <a:solidFill>
            <a:srgbClr val="E5E7EB"/>
          </a:solidFill>
          <a:ln/>
        </p:spPr>
      </p:sp>
      <p:sp>
        <p:nvSpPr>
          <p:cNvPr id="28" name="Text 26"/>
          <p:cNvSpPr/>
          <p:nvPr/>
        </p:nvSpPr>
        <p:spPr>
          <a:xfrm>
            <a:off x="10561320" y="5321808"/>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9" name="Text 27"/>
          <p:cNvSpPr/>
          <p:nvPr/>
        </p:nvSpPr>
        <p:spPr>
          <a:xfrm>
            <a:off x="1188720" y="5266944"/>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基盤整備(中長期)
</a:t>
            </a:r>
            <a:pPr indent="0" marL="0">
              <a:buNone/>
            </a:pPr>
            <a:r>
              <a:rPr lang="en-US" sz="1100" dirty="0">
                <a:solidFill>
                  <a:srgbClr val="374151"/>
                </a:solidFill>
                <a:latin typeface="Yu Gothic" pitchFamily="34" charset="0"/>
                <a:ea typeface="Yu Gothic" pitchFamily="34" charset="-122"/>
                <a:cs typeface="Yu Gothic" pitchFamily="34" charset="-120"/>
              </a:rPr>
              <a:t>LP・広告の効果測定(コンバージョン計測・GA4)の整備と、若年層応募の最大障壁である年間休日数(土曜出勤)の段階的見直しの検討</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実行ロードマップ(2026年8月〜)</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市場ピーク(9〜10月)に間に合わせる時系列プラン</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17</a:t>
            </a:r>
            <a:endParaRPr lang="en-US" sz="1600" dirty="0"/>
          </a:p>
        </p:txBody>
      </p:sp>
      <p:sp>
        <p:nvSpPr>
          <p:cNvPr id="5" name="Shape 3"/>
          <p:cNvSpPr/>
          <p:nvPr/>
        </p:nvSpPr>
        <p:spPr>
          <a:xfrm>
            <a:off x="548640" y="1645920"/>
            <a:ext cx="3566160" cy="685800"/>
          </a:xfrm>
          <a:prstGeom prst="roundRect">
            <a:avLst>
              <a:gd name="adj" fmla="val 10667"/>
            </a:avLst>
          </a:prstGeom>
          <a:solidFill>
            <a:srgbClr val="E8762C"/>
          </a:solidFill>
          <a:ln/>
        </p:spPr>
      </p:sp>
      <p:sp>
        <p:nvSpPr>
          <p:cNvPr id="6" name="Text 4"/>
          <p:cNvSpPr/>
          <p:nvPr/>
        </p:nvSpPr>
        <p:spPr>
          <a:xfrm>
            <a:off x="548640"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8月  </a:t>
            </a:r>
            <a:pPr algn="ctr" indent="0" marL="0">
              <a:buNone/>
            </a:pPr>
            <a:r>
              <a:rPr lang="en-US" sz="1200" dirty="0">
                <a:solidFill>
                  <a:srgbClr val="FFFFFF"/>
                </a:solidFill>
                <a:latin typeface="Yu Gothic" pitchFamily="34" charset="0"/>
                <a:ea typeface="Yu Gothic" pitchFamily="34" charset="-122"/>
                <a:cs typeface="Yu Gothic" pitchFamily="34" charset="-120"/>
              </a:rPr>
              <a:t>土台を仕上げる</a:t>
            </a:r>
            <a:endParaRPr lang="en-US" sz="1600" dirty="0"/>
          </a:p>
        </p:txBody>
      </p:sp>
      <p:sp>
        <p:nvSpPr>
          <p:cNvPr id="7" name="Shape 5"/>
          <p:cNvSpPr/>
          <p:nvPr/>
        </p:nvSpPr>
        <p:spPr>
          <a:xfrm>
            <a:off x="548640" y="2468880"/>
            <a:ext cx="3566160" cy="3749040"/>
          </a:xfrm>
          <a:prstGeom prst="roundRect">
            <a:avLst>
              <a:gd name="adj" fmla="val 2051"/>
            </a:avLst>
          </a:prstGeom>
          <a:solidFill>
            <a:srgbClr val="F2F6FA"/>
          </a:solidFill>
          <a:ln/>
        </p:spPr>
      </p:sp>
      <p:sp>
        <p:nvSpPr>
          <p:cNvPr id="8" name="Text 6"/>
          <p:cNvSpPr/>
          <p:nvPr/>
        </p:nvSpPr>
        <p:spPr>
          <a:xfrm>
            <a:off x="777240"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採用HPリニューアル完了(お盆前)・Instagram連携</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Instagram定期投稿の開始(働き方・業務内容・働く人)</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ハローワーク説明会の予約(8/28以降の枠)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SMS→LINEの連絡フローを全応募者に標準化</a:t>
            </a:r>
            <a:endParaRPr lang="en-US" sz="1050" dirty="0"/>
          </a:p>
        </p:txBody>
      </p:sp>
      <p:sp>
        <p:nvSpPr>
          <p:cNvPr id="9" name="Shape 7"/>
          <p:cNvSpPr/>
          <p:nvPr/>
        </p:nvSpPr>
        <p:spPr>
          <a:xfrm>
            <a:off x="4379976" y="1645920"/>
            <a:ext cx="3566160" cy="685800"/>
          </a:xfrm>
          <a:prstGeom prst="roundRect">
            <a:avLst>
              <a:gd name="adj" fmla="val 10667"/>
            </a:avLst>
          </a:prstGeom>
          <a:solidFill>
            <a:srgbClr val="1B3A5C"/>
          </a:solidFill>
          <a:ln/>
        </p:spPr>
      </p:sp>
      <p:sp>
        <p:nvSpPr>
          <p:cNvPr id="10" name="Text 8"/>
          <p:cNvSpPr/>
          <p:nvPr/>
        </p:nvSpPr>
        <p:spPr>
          <a:xfrm>
            <a:off x="4379976"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9月  </a:t>
            </a:r>
            <a:pPr algn="ctr" indent="0" marL="0">
              <a:buNone/>
            </a:pPr>
            <a:r>
              <a:rPr lang="en-US" sz="1200" dirty="0">
                <a:solidFill>
                  <a:srgbClr val="FFFFFF"/>
                </a:solidFill>
                <a:latin typeface="Yu Gothic" pitchFamily="34" charset="0"/>
                <a:ea typeface="Yu Gothic" pitchFamily="34" charset="-122"/>
                <a:cs typeface="Yu Gothic" pitchFamily="34" charset="-120"/>
              </a:rPr>
              <a:t>接点を仕込む</a:t>
            </a:r>
            <a:endParaRPr lang="en-US" sz="1600" dirty="0"/>
          </a:p>
        </p:txBody>
      </p:sp>
      <p:sp>
        <p:nvSpPr>
          <p:cNvPr id="11" name="Shape 9"/>
          <p:cNvSpPr/>
          <p:nvPr/>
        </p:nvSpPr>
        <p:spPr>
          <a:xfrm>
            <a:off x="4379976" y="2468880"/>
            <a:ext cx="3566160" cy="3749040"/>
          </a:xfrm>
          <a:prstGeom prst="roundRect">
            <a:avLst>
              <a:gd name="adj" fmla="val 2051"/>
            </a:avLst>
          </a:prstGeom>
          <a:solidFill>
            <a:srgbClr val="F2F6FA"/>
          </a:solidFill>
          <a:ln/>
        </p:spPr>
      </p:sp>
      <p:sp>
        <p:nvSpPr>
          <p:cNvPr id="12" name="Text 10"/>
          <p:cNvSpPr/>
          <p:nvPr/>
        </p:nvSpPr>
        <p:spPr>
          <a:xfrm>
            <a:off x="4608576"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マイナビ転職フェア出展の可否判断(費用交渉の結果を反映)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職人スカウトの費用対効果判断(北陸登録者数の回答受領後)</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「応募→説明会参加」移行率のKPI週次計測を開始</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求人・広告は20・30代向け2軸訴求へ予算集中</a:t>
            </a:r>
            <a:endParaRPr lang="en-US" sz="1050" dirty="0"/>
          </a:p>
        </p:txBody>
      </p:sp>
      <p:sp>
        <p:nvSpPr>
          <p:cNvPr id="13" name="Shape 11"/>
          <p:cNvSpPr/>
          <p:nvPr/>
        </p:nvSpPr>
        <p:spPr>
          <a:xfrm>
            <a:off x="8211312" y="1645920"/>
            <a:ext cx="3566160" cy="685800"/>
          </a:xfrm>
          <a:prstGeom prst="roundRect">
            <a:avLst>
              <a:gd name="adj" fmla="val 10667"/>
            </a:avLst>
          </a:prstGeom>
          <a:solidFill>
            <a:srgbClr val="5A7A99"/>
          </a:solidFill>
          <a:ln/>
        </p:spPr>
      </p:sp>
      <p:sp>
        <p:nvSpPr>
          <p:cNvPr id="14" name="Text 12"/>
          <p:cNvSpPr/>
          <p:nvPr/>
        </p:nvSpPr>
        <p:spPr>
          <a:xfrm>
            <a:off x="8211312"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10月〜  </a:t>
            </a:r>
            <a:pPr algn="ctr" indent="0" marL="0">
              <a:buNone/>
            </a:pPr>
            <a:r>
              <a:rPr lang="en-US" sz="1200" dirty="0">
                <a:solidFill>
                  <a:srgbClr val="FFFFFF"/>
                </a:solidFill>
                <a:latin typeface="Yu Gothic" pitchFamily="34" charset="0"/>
                <a:ea typeface="Yu Gothic" pitchFamily="34" charset="-122"/>
                <a:cs typeface="Yu Gothic" pitchFamily="34" charset="-120"/>
              </a:rPr>
              <a:t>ピークで刈り取る</a:t>
            </a:r>
            <a:endParaRPr lang="en-US" sz="1600" dirty="0"/>
          </a:p>
        </p:txBody>
      </p:sp>
      <p:sp>
        <p:nvSpPr>
          <p:cNvPr id="15" name="Shape 13"/>
          <p:cNvSpPr/>
          <p:nvPr/>
        </p:nvSpPr>
        <p:spPr>
          <a:xfrm>
            <a:off x="8211312" y="2468880"/>
            <a:ext cx="3566160" cy="3749040"/>
          </a:xfrm>
          <a:prstGeom prst="roundRect">
            <a:avLst>
              <a:gd name="adj" fmla="val 2051"/>
            </a:avLst>
          </a:prstGeom>
          <a:solidFill>
            <a:srgbClr val="F2F6FA"/>
          </a:solidFill>
          <a:ln/>
        </p:spPr>
      </p:sp>
      <p:sp>
        <p:nvSpPr>
          <p:cNvPr id="16" name="Text 14"/>
          <p:cNvSpPr/>
          <p:nvPr/>
        </p:nvSpPr>
        <p:spPr>
          <a:xfrm>
            <a:off x="8439912"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ハローワーク説明会・転職フェア(10月/1月)へ参加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フェア来場者をオンライン説明会・LINEへ接続</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Instagram・HPの反応を見てコンテンツを月次で改善</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年間休日数の見直し検討(中長期・経営テーマ)</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活動履歴 ─ 定例ミーティング・説明会</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毎回議事録を共有し、決定事項を翌週までに実行するサイクルを継続</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18</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11/20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初回面談</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キックオフ(富山ご訪問)</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12/10・12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社員インタビュー(2件)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定例:採用マニュアル・面接改善</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定例:自社説明会の企画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定例:数値レビュー・集客設計</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定例:HP制作会社同席・LP戦略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自社説明会(第1回・企画)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定例:Indeed有料化の決定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3/13・14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定例:キャッチコピー2軸戦略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4/9・11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263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定例:ペルソナ「オタク気質」へ転換</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ハローワーク説明会(2名参加)</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定例:検証結果・チラシ/Meta広告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定例:Meta広告検証(サーキュレーション同席)</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6/18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定例:LP改善・リタゲ導入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6/20・27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自社説明会(2部制)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6/24・30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定例:オンライン説明会設計・Indeed復旧</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7/9・15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定例:動画戦略・候補者対応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7/16・23・30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オンライン説明会(毎週木曜)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定例:コピー刷新・SNS転換・新チャネル</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8/7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定例(本レポートのご報告)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6172200"/>
            <a:ext cx="1115568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2025年11月〜2026年8月:定例・インタビュー・説明会など合計30回以上の接点。すべての回で議事録(Gemini自動メモ)を共有済み。</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1645920" y="-1645920"/>
            <a:ext cx="4206240" cy="4206240"/>
          </a:xfrm>
          <a:prstGeom prst="ellipse">
            <a:avLst/>
          </a:prstGeom>
          <a:solidFill>
            <a:srgbClr val="1B3A5C"/>
          </a:solidFill>
          <a:ln/>
        </p:spPr>
      </p:sp>
      <p:sp>
        <p:nvSpPr>
          <p:cNvPr id="3" name="Text 1"/>
          <p:cNvSpPr/>
          <p:nvPr/>
        </p:nvSpPr>
        <p:spPr>
          <a:xfrm>
            <a:off x="914400" y="2103120"/>
            <a:ext cx="10332720" cy="15544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引き続き、松下工業様の</a:t>
            </a:r>
            <a:endParaRPr lang="en-US" sz="3400" dirty="0"/>
          </a:p>
          <a:p>
            <a:pPr indent="0" marL="0">
              <a:buNone/>
            </a:pPr>
            <a:r>
              <a:rPr lang="en-US" sz="3400" b="1" dirty="0">
                <a:solidFill>
                  <a:srgbClr val="FFFFFF"/>
                </a:solidFill>
                <a:latin typeface="Yu Gothic" pitchFamily="34" charset="0"/>
                <a:ea typeface="Yu Gothic" pitchFamily="34" charset="-122"/>
                <a:cs typeface="Yu Gothic" pitchFamily="34" charset="-120"/>
              </a:rPr>
              <a:t>採用成功に伴走いたします</a:t>
            </a:r>
            <a:endParaRPr lang="en-US" sz="3400" dirty="0"/>
          </a:p>
        </p:txBody>
      </p:sp>
      <p:sp>
        <p:nvSpPr>
          <p:cNvPr id="4" name="Text 2"/>
          <p:cNvSpPr/>
          <p:nvPr/>
        </p:nvSpPr>
        <p:spPr>
          <a:xfrm>
            <a:off x="932688" y="3794760"/>
            <a:ext cx="10058400" cy="822960"/>
          </a:xfrm>
          <a:prstGeom prst="rect">
            <a:avLst/>
          </a:prstGeom>
          <a:noFill/>
          <a:ln/>
        </p:spPr>
        <p:txBody>
          <a:bodyPr wrap="square" lIns="0" tIns="0" rIns="0" bIns="0" rtlCol="0" anchor="ctr"/>
          <a:lstStyle/>
          <a:p>
            <a:pPr indent="0" marL="0">
              <a:buNone/>
            </a:pPr>
            <a:r>
              <a:rPr lang="en-US" sz="1400" dirty="0">
                <a:solidFill>
                  <a:srgbClr val="CADCFC"/>
                </a:solidFill>
                <a:latin typeface="Yu Gothic" pitchFamily="34" charset="0"/>
                <a:ea typeface="Yu Gothic" pitchFamily="34" charset="-122"/>
                <a:cs typeface="Yu Gothic" pitchFamily="34" charset="-120"/>
              </a:rPr>
              <a:t>9ヶ月間、密なご協力をいただき誠にありがとうございました。</a:t>
            </a:r>
            <a:endParaRPr lang="en-US" sz="1400" dirty="0"/>
          </a:p>
          <a:p>
            <a:pPr indent="0" marL="0">
              <a:buNone/>
            </a:pPr>
            <a:r>
              <a:rPr lang="en-US" sz="1400" dirty="0">
                <a:solidFill>
                  <a:srgbClr val="CADCFC"/>
                </a:solidFill>
                <a:latin typeface="Yu Gothic" pitchFamily="34" charset="0"/>
                <a:ea typeface="Yu Gothic" pitchFamily="34" charset="-122"/>
                <a:cs typeface="Yu Gothic" pitchFamily="34" charset="-120"/>
              </a:rPr>
              <a:t>築き上げた採用基盤と検証結果を、これからの成果につなげてまいります。</a:t>
            </a:r>
            <a:endParaRPr lang="en-US" sz="1400" dirty="0"/>
          </a:p>
        </p:txBody>
      </p:sp>
      <p:sp>
        <p:nvSpPr>
          <p:cNvPr id="5" name="Text 3"/>
          <p:cNvSpPr/>
          <p:nvPr/>
        </p:nvSpPr>
        <p:spPr>
          <a:xfrm>
            <a:off x="932688" y="5852160"/>
            <a:ext cx="7315200" cy="365760"/>
          </a:xfrm>
          <a:prstGeom prst="rect">
            <a:avLst/>
          </a:prstGeom>
          <a:noFill/>
          <a:ln/>
        </p:spPr>
        <p:txBody>
          <a:bodyPr wrap="square" lIns="0" tIns="0" rIns="0" bIns="0" rtlCol="0" anchor="ctr"/>
          <a:lstStyle/>
          <a:p>
            <a:pPr indent="0" marL="0">
              <a:buNone/>
            </a:pPr>
            <a:r>
              <a:rPr lang="en-US" sz="1200" dirty="0">
                <a:solidFill>
                  <a:srgbClr val="9FB8D4"/>
                </a:solidFill>
                <a:latin typeface="Yu Gothic" pitchFamily="34" charset="0"/>
                <a:ea typeface="Yu Gothic" pitchFamily="34" charset="-122"/>
                <a:cs typeface="Yu Gothic" pitchFamily="34" charset="-120"/>
              </a:rPr>
              <a:t>Talenco  担当:佐々木 純平</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2026-08-06T14:49:26Z</dcterms:created>
  <dcterms:modified xsi:type="dcterms:W3CDTF">2026-08-06T14:49:26Z</dcterms:modified>
</cp:coreProperties>
</file>